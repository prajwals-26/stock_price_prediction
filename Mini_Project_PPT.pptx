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5394" autoAdjust="0"/>
  </p:normalViewPr>
  <p:slideViewPr>
    <p:cSldViewPr>
      <p:cViewPr varScale="1">
        <p:scale>
          <a:sx n="60" d="100"/>
          <a:sy n="60" d="100"/>
        </p:scale>
        <p:origin x="37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22827-01CE-E786-CCEB-5720107F9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44D047-D402-F5D2-9B15-EF16BDB39C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C7724-AC93-7C1A-A641-76446BBC6D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ED85BA4-9350-0C0F-11BB-AB9E2B125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D69B2D4-1AE2-1740-4BAD-69EA586DB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49127-67D1-EE27-66E3-62DCDE384B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8E3A2-57E6-7604-6719-BEAFDC9AC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82277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D346-76A5-902D-F132-CD845AB9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B6C1AF-D8A8-A96D-B0EA-AE9461BA6E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E574F-428B-0C4A-366A-4FFF909F40A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CB32BF-CFA8-8E37-EF31-8EAA786CF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B0D0F2C-6C92-591A-B871-593F0DB64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F175E-5E52-C4E4-7AD5-945D571844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57DAF-ADCA-D8B5-A1DA-C902EF4A1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76419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84487" y="223169"/>
            <a:ext cx="7325919" cy="1709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000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Stock Market Prediction using Machine Learning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8892885"/>
            <a:ext cx="8332191" cy="433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2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University of Visvesvaraya College of Engineering </a:t>
            </a:r>
            <a:r>
              <a:rPr lang="en-US" sz="22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(</a:t>
            </a:r>
            <a:r>
              <a:rPr lang="en-US" sz="22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UVCE</a:t>
            </a:r>
            <a:r>
              <a:rPr lang="en-US" sz="22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5985" y="5453831"/>
            <a:ext cx="4302919" cy="158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312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Submitted by:</a:t>
            </a:r>
          </a:p>
          <a:p>
            <a:pPr algn="ctr"/>
            <a:r>
              <a:rPr lang="en-US" sz="20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Aditya S (U25UV23T064004) Prajwal S (U25UV23T064040) </a:t>
            </a:r>
          </a:p>
          <a:p>
            <a:pPr algn="ctr"/>
            <a:r>
              <a:rPr lang="en-US" sz="20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Uzairulla (U25UV23T064064)</a:t>
            </a:r>
          </a:p>
          <a:p>
            <a:pPr algn="ctr"/>
            <a:r>
              <a:rPr lang="en-US" sz="20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6</a:t>
            </a:r>
            <a:r>
              <a:rPr lang="en-US" sz="2000" b="1" baseline="300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th</a:t>
            </a:r>
            <a:r>
              <a:rPr lang="en-US" sz="20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Sem, B.Tech (ISE)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84487" y="7554666"/>
            <a:ext cx="7325919" cy="155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312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Under the Guidance of:</a:t>
            </a:r>
          </a:p>
          <a:p>
            <a:pPr algn="ctr"/>
            <a:r>
              <a:rPr lang="en-US" sz="22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Dr. Prathibhavani P M, </a:t>
            </a:r>
          </a:p>
          <a:p>
            <a:pPr algn="ctr"/>
            <a:r>
              <a:rPr lang="en-US" sz="22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Assistant Professor, </a:t>
            </a:r>
          </a:p>
          <a:p>
            <a:pPr algn="ctr"/>
            <a:r>
              <a:rPr lang="en-US" sz="2200" b="1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Department of Computer Science and Engineering,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F99CD59-E5D3-EE32-E370-EA18376EE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5920" y="2377002"/>
            <a:ext cx="2303047" cy="2632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41591" y="333966"/>
            <a:ext cx="1698579" cy="449018"/>
            <a:chOff x="0" y="0"/>
            <a:chExt cx="2466581" cy="5986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66594" cy="598678"/>
            </a:xfrm>
            <a:custGeom>
              <a:avLst/>
              <a:gdLst/>
              <a:ahLst/>
              <a:cxnLst/>
              <a:rect l="l" t="t" r="r" b="b"/>
              <a:pathLst>
                <a:path w="2466594" h="598678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2426208" y="0"/>
                  </a:lnTo>
                  <a:cubicBezTo>
                    <a:pt x="2448560" y="0"/>
                    <a:pt x="2466594" y="18034"/>
                    <a:pt x="2466594" y="40386"/>
                  </a:cubicBezTo>
                  <a:lnTo>
                    <a:pt x="2466594" y="558292"/>
                  </a:lnTo>
                  <a:cubicBezTo>
                    <a:pt x="2466594" y="580644"/>
                    <a:pt x="2448560" y="598678"/>
                    <a:pt x="2426208" y="598678"/>
                  </a:cubicBezTo>
                  <a:lnTo>
                    <a:pt x="40386" y="598678"/>
                  </a:lnTo>
                  <a:cubicBezTo>
                    <a:pt x="18034" y="598678"/>
                    <a:pt x="0" y="580644"/>
                    <a:pt x="0" y="558292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92957" y="423797"/>
            <a:ext cx="1547222" cy="26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1596" y="1241527"/>
            <a:ext cx="8680399" cy="69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Basics of the Stock Market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41596" y="2545261"/>
            <a:ext cx="4304109" cy="34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What is the Stock Market?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41596" y="3091453"/>
            <a:ext cx="4523480" cy="14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 regulated marketplace where publicly listed companies issue shares and investors trade them, enabling capital formation and wealth creation.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41596" y="4831404"/>
            <a:ext cx="2970162" cy="34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Key Exchanges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41596" y="5377605"/>
            <a:ext cx="4523480" cy="145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2874"/>
              </a:lnSpc>
              <a:buFont typeface="Arial"/>
              <a:buChar char="•"/>
            </a:pPr>
            <a:r>
              <a:rPr lang="en-US" sz="1937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BSE</a:t>
            </a:r>
            <a:r>
              <a:rPr lang="en-US" sz="19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(Bombay Stock Exchange) — Asia's oldest, est. 1875</a:t>
            </a:r>
          </a:p>
          <a:p>
            <a:pPr marL="292199" lvl="1" indent="-146100" algn="l">
              <a:lnSpc>
                <a:spcPts val="2874"/>
              </a:lnSpc>
              <a:buFont typeface="Arial"/>
              <a:buChar char="•"/>
            </a:pPr>
            <a:r>
              <a:rPr lang="en-US" sz="1937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NSE</a:t>
            </a:r>
            <a:r>
              <a:rPr lang="en-US" sz="19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(National Stock Exchange) — India's largest by volume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90449" y="2545261"/>
            <a:ext cx="4308272" cy="34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Why Predict Stock Prices?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876162" y="3170482"/>
            <a:ext cx="4552055" cy="1919288"/>
            <a:chOff x="0" y="0"/>
            <a:chExt cx="6069406" cy="2559050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6031357" cy="2520950"/>
            </a:xfrm>
            <a:custGeom>
              <a:avLst/>
              <a:gdLst/>
              <a:ahLst/>
              <a:cxnLst/>
              <a:rect l="l" t="t" r="r" b="b"/>
              <a:pathLst>
                <a:path w="6031357" h="2520950">
                  <a:moveTo>
                    <a:pt x="0" y="50546"/>
                  </a:moveTo>
                  <a:cubicBezTo>
                    <a:pt x="0" y="22606"/>
                    <a:pt x="22860" y="0"/>
                    <a:pt x="50927" y="0"/>
                  </a:cubicBezTo>
                  <a:lnTo>
                    <a:pt x="5980430" y="0"/>
                  </a:lnTo>
                  <a:cubicBezTo>
                    <a:pt x="6008624" y="0"/>
                    <a:pt x="6031357" y="22606"/>
                    <a:pt x="6031357" y="50546"/>
                  </a:cubicBezTo>
                  <a:lnTo>
                    <a:pt x="6031357" y="2470404"/>
                  </a:lnTo>
                  <a:cubicBezTo>
                    <a:pt x="6031357" y="2498344"/>
                    <a:pt x="6008497" y="2520950"/>
                    <a:pt x="5980430" y="2520950"/>
                  </a:cubicBezTo>
                  <a:lnTo>
                    <a:pt x="50927" y="2520950"/>
                  </a:lnTo>
                  <a:cubicBezTo>
                    <a:pt x="22733" y="2520950"/>
                    <a:pt x="0" y="2498344"/>
                    <a:pt x="0" y="2470404"/>
                  </a:cubicBez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069457" cy="2559050"/>
            </a:xfrm>
            <a:custGeom>
              <a:avLst/>
              <a:gdLst/>
              <a:ahLst/>
              <a:cxnLst/>
              <a:rect l="l" t="t" r="r" b="b"/>
              <a:pathLst>
                <a:path w="6069457" h="2559050">
                  <a:moveTo>
                    <a:pt x="0" y="69596"/>
                  </a:moveTo>
                  <a:cubicBezTo>
                    <a:pt x="0" y="30988"/>
                    <a:pt x="31496" y="0"/>
                    <a:pt x="69977" y="0"/>
                  </a:cubicBezTo>
                  <a:lnTo>
                    <a:pt x="5999480" y="0"/>
                  </a:lnTo>
                  <a:lnTo>
                    <a:pt x="5999480" y="19050"/>
                  </a:lnTo>
                  <a:lnTo>
                    <a:pt x="5999480" y="0"/>
                  </a:lnTo>
                  <a:cubicBezTo>
                    <a:pt x="6037961" y="0"/>
                    <a:pt x="6069457" y="30988"/>
                    <a:pt x="6069457" y="69596"/>
                  </a:cubicBezTo>
                  <a:lnTo>
                    <a:pt x="6050407" y="69596"/>
                  </a:lnTo>
                  <a:lnTo>
                    <a:pt x="6069457" y="69596"/>
                  </a:lnTo>
                  <a:lnTo>
                    <a:pt x="6069457" y="2489454"/>
                  </a:lnTo>
                  <a:lnTo>
                    <a:pt x="6050407" y="2489454"/>
                  </a:lnTo>
                  <a:lnTo>
                    <a:pt x="6069457" y="2489454"/>
                  </a:lnTo>
                  <a:cubicBezTo>
                    <a:pt x="6069457" y="2528062"/>
                    <a:pt x="6037961" y="2559050"/>
                    <a:pt x="5999480" y="2559050"/>
                  </a:cubicBezTo>
                  <a:lnTo>
                    <a:pt x="5999480" y="2540000"/>
                  </a:lnTo>
                  <a:lnTo>
                    <a:pt x="5999480" y="2559050"/>
                  </a:lnTo>
                  <a:lnTo>
                    <a:pt x="69977" y="2559050"/>
                  </a:lnTo>
                  <a:lnTo>
                    <a:pt x="69977" y="2540000"/>
                  </a:lnTo>
                  <a:lnTo>
                    <a:pt x="69977" y="2559050"/>
                  </a:lnTo>
                  <a:cubicBezTo>
                    <a:pt x="31496" y="2559050"/>
                    <a:pt x="0" y="2528062"/>
                    <a:pt x="0" y="2489454"/>
                  </a:cubicBezTo>
                  <a:lnTo>
                    <a:pt x="0" y="69596"/>
                  </a:lnTo>
                  <a:lnTo>
                    <a:pt x="19050" y="69596"/>
                  </a:lnTo>
                  <a:lnTo>
                    <a:pt x="0" y="69596"/>
                  </a:lnTo>
                  <a:moveTo>
                    <a:pt x="38100" y="69596"/>
                  </a:moveTo>
                  <a:lnTo>
                    <a:pt x="38100" y="2489454"/>
                  </a:lnTo>
                  <a:lnTo>
                    <a:pt x="19050" y="2489454"/>
                  </a:lnTo>
                  <a:lnTo>
                    <a:pt x="38100" y="2489454"/>
                  </a:lnTo>
                  <a:cubicBezTo>
                    <a:pt x="38100" y="2506726"/>
                    <a:pt x="52197" y="2520950"/>
                    <a:pt x="69977" y="2520950"/>
                  </a:cubicBezTo>
                  <a:lnTo>
                    <a:pt x="5999480" y="2520950"/>
                  </a:lnTo>
                  <a:cubicBezTo>
                    <a:pt x="6017260" y="2520950"/>
                    <a:pt x="6031357" y="2506726"/>
                    <a:pt x="6031357" y="2489454"/>
                  </a:cubicBezTo>
                  <a:lnTo>
                    <a:pt x="6031357" y="69596"/>
                  </a:lnTo>
                  <a:cubicBezTo>
                    <a:pt x="6031357" y="52324"/>
                    <a:pt x="6017260" y="38100"/>
                    <a:pt x="5999480" y="38100"/>
                  </a:cubicBezTo>
                  <a:lnTo>
                    <a:pt x="69977" y="38100"/>
                  </a:lnTo>
                  <a:lnTo>
                    <a:pt x="69977" y="19050"/>
                  </a:lnTo>
                  <a:lnTo>
                    <a:pt x="69977" y="38100"/>
                  </a:lnTo>
                  <a:cubicBezTo>
                    <a:pt x="52197" y="38100"/>
                    <a:pt x="38100" y="52324"/>
                    <a:pt x="38100" y="69596"/>
                  </a:cubicBezTo>
                  <a:close/>
                </a:path>
              </a:pathLst>
            </a:custGeom>
            <a:solidFill>
              <a:srgbClr val="44426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171437" y="3437182"/>
            <a:ext cx="2970162" cy="34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Investor Decisions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71437" y="3983384"/>
            <a:ext cx="3961505" cy="70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Guides buy/sell timing to maximize returns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876162" y="5274173"/>
            <a:ext cx="4552055" cy="1919288"/>
            <a:chOff x="0" y="0"/>
            <a:chExt cx="6069406" cy="2559050"/>
          </a:xfrm>
        </p:grpSpPr>
        <p:sp>
          <p:nvSpPr>
            <p:cNvPr id="25" name="Freeform 25"/>
            <p:cNvSpPr/>
            <p:nvPr/>
          </p:nvSpPr>
          <p:spPr>
            <a:xfrm>
              <a:off x="19050" y="19050"/>
              <a:ext cx="6031357" cy="2520950"/>
            </a:xfrm>
            <a:custGeom>
              <a:avLst/>
              <a:gdLst/>
              <a:ahLst/>
              <a:cxnLst/>
              <a:rect l="l" t="t" r="r" b="b"/>
              <a:pathLst>
                <a:path w="6031357" h="2520950">
                  <a:moveTo>
                    <a:pt x="0" y="50546"/>
                  </a:moveTo>
                  <a:cubicBezTo>
                    <a:pt x="0" y="22606"/>
                    <a:pt x="22860" y="0"/>
                    <a:pt x="50927" y="0"/>
                  </a:cubicBezTo>
                  <a:lnTo>
                    <a:pt x="5980430" y="0"/>
                  </a:lnTo>
                  <a:cubicBezTo>
                    <a:pt x="6008624" y="0"/>
                    <a:pt x="6031357" y="22606"/>
                    <a:pt x="6031357" y="50546"/>
                  </a:cubicBezTo>
                  <a:lnTo>
                    <a:pt x="6031357" y="2470404"/>
                  </a:lnTo>
                  <a:cubicBezTo>
                    <a:pt x="6031357" y="2498344"/>
                    <a:pt x="6008497" y="2520950"/>
                    <a:pt x="5980430" y="2520950"/>
                  </a:cubicBezTo>
                  <a:lnTo>
                    <a:pt x="50927" y="2520950"/>
                  </a:lnTo>
                  <a:cubicBezTo>
                    <a:pt x="22733" y="2520950"/>
                    <a:pt x="0" y="2498344"/>
                    <a:pt x="0" y="2470404"/>
                  </a:cubicBez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6069457" cy="2559050"/>
            </a:xfrm>
            <a:custGeom>
              <a:avLst/>
              <a:gdLst/>
              <a:ahLst/>
              <a:cxnLst/>
              <a:rect l="l" t="t" r="r" b="b"/>
              <a:pathLst>
                <a:path w="6069457" h="2559050">
                  <a:moveTo>
                    <a:pt x="0" y="69596"/>
                  </a:moveTo>
                  <a:cubicBezTo>
                    <a:pt x="0" y="30988"/>
                    <a:pt x="31496" y="0"/>
                    <a:pt x="69977" y="0"/>
                  </a:cubicBezTo>
                  <a:lnTo>
                    <a:pt x="5999480" y="0"/>
                  </a:lnTo>
                  <a:lnTo>
                    <a:pt x="5999480" y="19050"/>
                  </a:lnTo>
                  <a:lnTo>
                    <a:pt x="5999480" y="0"/>
                  </a:lnTo>
                  <a:cubicBezTo>
                    <a:pt x="6037961" y="0"/>
                    <a:pt x="6069457" y="30988"/>
                    <a:pt x="6069457" y="69596"/>
                  </a:cubicBezTo>
                  <a:lnTo>
                    <a:pt x="6050407" y="69596"/>
                  </a:lnTo>
                  <a:lnTo>
                    <a:pt x="6069457" y="69596"/>
                  </a:lnTo>
                  <a:lnTo>
                    <a:pt x="6069457" y="2489454"/>
                  </a:lnTo>
                  <a:lnTo>
                    <a:pt x="6050407" y="2489454"/>
                  </a:lnTo>
                  <a:lnTo>
                    <a:pt x="6069457" y="2489454"/>
                  </a:lnTo>
                  <a:cubicBezTo>
                    <a:pt x="6069457" y="2528062"/>
                    <a:pt x="6037961" y="2559050"/>
                    <a:pt x="5999480" y="2559050"/>
                  </a:cubicBezTo>
                  <a:lnTo>
                    <a:pt x="5999480" y="2540000"/>
                  </a:lnTo>
                  <a:lnTo>
                    <a:pt x="5999480" y="2559050"/>
                  </a:lnTo>
                  <a:lnTo>
                    <a:pt x="69977" y="2559050"/>
                  </a:lnTo>
                  <a:lnTo>
                    <a:pt x="69977" y="2540000"/>
                  </a:lnTo>
                  <a:lnTo>
                    <a:pt x="69977" y="2559050"/>
                  </a:lnTo>
                  <a:cubicBezTo>
                    <a:pt x="31496" y="2559050"/>
                    <a:pt x="0" y="2528062"/>
                    <a:pt x="0" y="2489454"/>
                  </a:cubicBezTo>
                  <a:lnTo>
                    <a:pt x="0" y="69596"/>
                  </a:lnTo>
                  <a:lnTo>
                    <a:pt x="19050" y="69596"/>
                  </a:lnTo>
                  <a:lnTo>
                    <a:pt x="0" y="69596"/>
                  </a:lnTo>
                  <a:moveTo>
                    <a:pt x="38100" y="69596"/>
                  </a:moveTo>
                  <a:lnTo>
                    <a:pt x="38100" y="2489454"/>
                  </a:lnTo>
                  <a:lnTo>
                    <a:pt x="19050" y="2489454"/>
                  </a:lnTo>
                  <a:lnTo>
                    <a:pt x="38100" y="2489454"/>
                  </a:lnTo>
                  <a:cubicBezTo>
                    <a:pt x="38100" y="2506726"/>
                    <a:pt x="52197" y="2520950"/>
                    <a:pt x="69977" y="2520950"/>
                  </a:cubicBezTo>
                  <a:lnTo>
                    <a:pt x="5999480" y="2520950"/>
                  </a:lnTo>
                  <a:cubicBezTo>
                    <a:pt x="6017260" y="2520950"/>
                    <a:pt x="6031357" y="2506726"/>
                    <a:pt x="6031357" y="2489454"/>
                  </a:cubicBezTo>
                  <a:lnTo>
                    <a:pt x="6031357" y="69596"/>
                  </a:lnTo>
                  <a:cubicBezTo>
                    <a:pt x="6031357" y="52324"/>
                    <a:pt x="6017260" y="38100"/>
                    <a:pt x="5999480" y="38100"/>
                  </a:cubicBezTo>
                  <a:lnTo>
                    <a:pt x="69977" y="38100"/>
                  </a:lnTo>
                  <a:lnTo>
                    <a:pt x="69977" y="19050"/>
                  </a:lnTo>
                  <a:lnTo>
                    <a:pt x="69977" y="38100"/>
                  </a:lnTo>
                  <a:cubicBezTo>
                    <a:pt x="52197" y="38100"/>
                    <a:pt x="38100" y="52324"/>
                    <a:pt x="38100" y="69596"/>
                  </a:cubicBezTo>
                  <a:close/>
                </a:path>
              </a:pathLst>
            </a:custGeom>
            <a:solidFill>
              <a:srgbClr val="44426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171437" y="5540873"/>
            <a:ext cx="2970162" cy="34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Risk Reduction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71437" y="6087066"/>
            <a:ext cx="3961505" cy="70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Minimizes financial losses through informed strategy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876162" y="7377855"/>
            <a:ext cx="4552055" cy="1919288"/>
            <a:chOff x="0" y="0"/>
            <a:chExt cx="6069406" cy="2559050"/>
          </a:xfrm>
        </p:grpSpPr>
        <p:sp>
          <p:nvSpPr>
            <p:cNvPr id="30" name="Freeform 30"/>
            <p:cNvSpPr/>
            <p:nvPr/>
          </p:nvSpPr>
          <p:spPr>
            <a:xfrm>
              <a:off x="19050" y="19050"/>
              <a:ext cx="6031357" cy="2520950"/>
            </a:xfrm>
            <a:custGeom>
              <a:avLst/>
              <a:gdLst/>
              <a:ahLst/>
              <a:cxnLst/>
              <a:rect l="l" t="t" r="r" b="b"/>
              <a:pathLst>
                <a:path w="6031357" h="2520950">
                  <a:moveTo>
                    <a:pt x="0" y="50546"/>
                  </a:moveTo>
                  <a:cubicBezTo>
                    <a:pt x="0" y="22606"/>
                    <a:pt x="22860" y="0"/>
                    <a:pt x="50927" y="0"/>
                  </a:cubicBezTo>
                  <a:lnTo>
                    <a:pt x="5980430" y="0"/>
                  </a:lnTo>
                  <a:cubicBezTo>
                    <a:pt x="6008624" y="0"/>
                    <a:pt x="6031357" y="22606"/>
                    <a:pt x="6031357" y="50546"/>
                  </a:cubicBezTo>
                  <a:lnTo>
                    <a:pt x="6031357" y="2470404"/>
                  </a:lnTo>
                  <a:cubicBezTo>
                    <a:pt x="6031357" y="2498344"/>
                    <a:pt x="6008497" y="2520950"/>
                    <a:pt x="5980430" y="2520950"/>
                  </a:cubicBezTo>
                  <a:lnTo>
                    <a:pt x="50927" y="2520950"/>
                  </a:lnTo>
                  <a:cubicBezTo>
                    <a:pt x="22733" y="2520950"/>
                    <a:pt x="0" y="2498344"/>
                    <a:pt x="0" y="2470404"/>
                  </a:cubicBez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6069457" cy="2559050"/>
            </a:xfrm>
            <a:custGeom>
              <a:avLst/>
              <a:gdLst/>
              <a:ahLst/>
              <a:cxnLst/>
              <a:rect l="l" t="t" r="r" b="b"/>
              <a:pathLst>
                <a:path w="6069457" h="2559050">
                  <a:moveTo>
                    <a:pt x="0" y="69596"/>
                  </a:moveTo>
                  <a:cubicBezTo>
                    <a:pt x="0" y="30988"/>
                    <a:pt x="31496" y="0"/>
                    <a:pt x="69977" y="0"/>
                  </a:cubicBezTo>
                  <a:lnTo>
                    <a:pt x="5999480" y="0"/>
                  </a:lnTo>
                  <a:lnTo>
                    <a:pt x="5999480" y="19050"/>
                  </a:lnTo>
                  <a:lnTo>
                    <a:pt x="5999480" y="0"/>
                  </a:lnTo>
                  <a:cubicBezTo>
                    <a:pt x="6037961" y="0"/>
                    <a:pt x="6069457" y="30988"/>
                    <a:pt x="6069457" y="69596"/>
                  </a:cubicBezTo>
                  <a:lnTo>
                    <a:pt x="6050407" y="69596"/>
                  </a:lnTo>
                  <a:lnTo>
                    <a:pt x="6069457" y="69596"/>
                  </a:lnTo>
                  <a:lnTo>
                    <a:pt x="6069457" y="2489454"/>
                  </a:lnTo>
                  <a:lnTo>
                    <a:pt x="6050407" y="2489454"/>
                  </a:lnTo>
                  <a:lnTo>
                    <a:pt x="6069457" y="2489454"/>
                  </a:lnTo>
                  <a:cubicBezTo>
                    <a:pt x="6069457" y="2528062"/>
                    <a:pt x="6037961" y="2559050"/>
                    <a:pt x="5999480" y="2559050"/>
                  </a:cubicBezTo>
                  <a:lnTo>
                    <a:pt x="5999480" y="2540000"/>
                  </a:lnTo>
                  <a:lnTo>
                    <a:pt x="5999480" y="2559050"/>
                  </a:lnTo>
                  <a:lnTo>
                    <a:pt x="69977" y="2559050"/>
                  </a:lnTo>
                  <a:lnTo>
                    <a:pt x="69977" y="2540000"/>
                  </a:lnTo>
                  <a:lnTo>
                    <a:pt x="69977" y="2559050"/>
                  </a:lnTo>
                  <a:cubicBezTo>
                    <a:pt x="31496" y="2559050"/>
                    <a:pt x="0" y="2528062"/>
                    <a:pt x="0" y="2489454"/>
                  </a:cubicBezTo>
                  <a:lnTo>
                    <a:pt x="0" y="69596"/>
                  </a:lnTo>
                  <a:lnTo>
                    <a:pt x="19050" y="69596"/>
                  </a:lnTo>
                  <a:lnTo>
                    <a:pt x="0" y="69596"/>
                  </a:lnTo>
                  <a:moveTo>
                    <a:pt x="38100" y="69596"/>
                  </a:moveTo>
                  <a:lnTo>
                    <a:pt x="38100" y="2489454"/>
                  </a:lnTo>
                  <a:lnTo>
                    <a:pt x="19050" y="2489454"/>
                  </a:lnTo>
                  <a:lnTo>
                    <a:pt x="38100" y="2489454"/>
                  </a:lnTo>
                  <a:cubicBezTo>
                    <a:pt x="38100" y="2506726"/>
                    <a:pt x="52197" y="2520950"/>
                    <a:pt x="69977" y="2520950"/>
                  </a:cubicBezTo>
                  <a:lnTo>
                    <a:pt x="5999480" y="2520950"/>
                  </a:lnTo>
                  <a:cubicBezTo>
                    <a:pt x="6017260" y="2520950"/>
                    <a:pt x="6031357" y="2506726"/>
                    <a:pt x="6031357" y="2489454"/>
                  </a:cubicBezTo>
                  <a:lnTo>
                    <a:pt x="6031357" y="69596"/>
                  </a:lnTo>
                  <a:cubicBezTo>
                    <a:pt x="6031357" y="52324"/>
                    <a:pt x="6017260" y="38100"/>
                    <a:pt x="5999480" y="38100"/>
                  </a:cubicBezTo>
                  <a:lnTo>
                    <a:pt x="69977" y="38100"/>
                  </a:lnTo>
                  <a:lnTo>
                    <a:pt x="69977" y="19050"/>
                  </a:lnTo>
                  <a:lnTo>
                    <a:pt x="69977" y="38100"/>
                  </a:lnTo>
                  <a:cubicBezTo>
                    <a:pt x="52197" y="38100"/>
                    <a:pt x="38100" y="52324"/>
                    <a:pt x="38100" y="69596"/>
                  </a:cubicBezTo>
                  <a:close/>
                </a:path>
              </a:pathLst>
            </a:custGeom>
            <a:solidFill>
              <a:srgbClr val="44426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171437" y="7644555"/>
            <a:ext cx="2970162" cy="346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Economic Insight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71437" y="8190757"/>
            <a:ext cx="3961505" cy="70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Reflects broader market health and GDP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24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64146" y="591892"/>
            <a:ext cx="1832077" cy="364916"/>
            <a:chOff x="0" y="0"/>
            <a:chExt cx="2009978" cy="4605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09902" cy="460503"/>
            </a:xfrm>
            <a:custGeom>
              <a:avLst/>
              <a:gdLst/>
              <a:ahLst/>
              <a:cxnLst/>
              <a:rect l="l" t="t" r="r" b="b"/>
              <a:pathLst>
                <a:path w="2009902" h="46050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1977009" y="0"/>
                  </a:lnTo>
                  <a:cubicBezTo>
                    <a:pt x="1995170" y="0"/>
                    <a:pt x="2009902" y="14732"/>
                    <a:pt x="2009902" y="32893"/>
                  </a:cubicBezTo>
                  <a:lnTo>
                    <a:pt x="2009902" y="427609"/>
                  </a:lnTo>
                  <a:cubicBezTo>
                    <a:pt x="2009902" y="445770"/>
                    <a:pt x="1995170" y="460502"/>
                    <a:pt x="1977009" y="460502"/>
                  </a:cubicBezTo>
                  <a:lnTo>
                    <a:pt x="32893" y="460502"/>
                  </a:lnTo>
                  <a:cubicBezTo>
                    <a:pt x="14732" y="460629"/>
                    <a:pt x="0" y="445897"/>
                    <a:pt x="0" y="427609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629123" y="683283"/>
            <a:ext cx="1832077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4898" y="1548863"/>
            <a:ext cx="9526934" cy="57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749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Challenges in Stock Price 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64146" y="3264246"/>
            <a:ext cx="4377480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Why Markets Are Hard to Predict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32687" y="3725761"/>
            <a:ext cx="2420093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Non-Linearity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2687" y="4169569"/>
            <a:ext cx="5760244" cy="51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Price movements follow complex, non-linear patterns that defeat simple models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32687" y="5007473"/>
            <a:ext cx="2827287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Randomness &amp; Noise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2687" y="5451272"/>
            <a:ext cx="5760244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Sudden fluctuations driven by irrational investor behavior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32687" y="6011618"/>
            <a:ext cx="2657027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High Dimensionality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32687" y="6455416"/>
            <a:ext cx="5760244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Hundreds of interacting variables influence price simultaneously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04299" y="1970037"/>
            <a:ext cx="6428784" cy="6428784"/>
            <a:chOff x="0" y="0"/>
            <a:chExt cx="8571713" cy="8571713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8571738" cy="8571738"/>
            </a:xfrm>
            <a:custGeom>
              <a:avLst/>
              <a:gdLst/>
              <a:ahLst/>
              <a:cxnLst/>
              <a:rect l="l" t="t" r="r" b="b"/>
              <a:pathLst>
                <a:path w="8571738" h="8571738">
                  <a:moveTo>
                    <a:pt x="0" y="0"/>
                  </a:moveTo>
                  <a:lnTo>
                    <a:pt x="8571738" y="0"/>
                  </a:lnTo>
                  <a:lnTo>
                    <a:pt x="8571738" y="8571738"/>
                  </a:lnTo>
                  <a:lnTo>
                    <a:pt x="0" y="857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04299" y="1970037"/>
            <a:ext cx="6428784" cy="6428784"/>
            <a:chOff x="0" y="0"/>
            <a:chExt cx="8571713" cy="8571713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8571738" cy="8571738"/>
            </a:xfrm>
            <a:custGeom>
              <a:avLst/>
              <a:gdLst/>
              <a:ahLst/>
              <a:cxnLst/>
              <a:rect l="l" t="t" r="r" b="b"/>
              <a:pathLst>
                <a:path w="8571738" h="8571738">
                  <a:moveTo>
                    <a:pt x="0" y="0"/>
                  </a:moveTo>
                  <a:lnTo>
                    <a:pt x="8571738" y="0"/>
                  </a:lnTo>
                  <a:lnTo>
                    <a:pt x="8571738" y="8571738"/>
                  </a:lnTo>
                  <a:lnTo>
                    <a:pt x="0" y="857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464146" y="8717013"/>
            <a:ext cx="13359555" cy="977951"/>
            <a:chOff x="0" y="0"/>
            <a:chExt cx="17812741" cy="13039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812765" cy="1303909"/>
            </a:xfrm>
            <a:custGeom>
              <a:avLst/>
              <a:gdLst/>
              <a:ahLst/>
              <a:cxnLst/>
              <a:rect l="l" t="t" r="r" b="b"/>
              <a:pathLst>
                <a:path w="17812765" h="1303909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7771618" y="0"/>
                  </a:lnTo>
                  <a:cubicBezTo>
                    <a:pt x="17794351" y="0"/>
                    <a:pt x="17812765" y="18415"/>
                    <a:pt x="17812765" y="41148"/>
                  </a:cubicBezTo>
                  <a:lnTo>
                    <a:pt x="17812765" y="1262761"/>
                  </a:lnTo>
                  <a:cubicBezTo>
                    <a:pt x="17812765" y="1285494"/>
                    <a:pt x="17794351" y="1303909"/>
                    <a:pt x="17771618" y="1303909"/>
                  </a:cubicBezTo>
                  <a:lnTo>
                    <a:pt x="41148" y="1303909"/>
                  </a:lnTo>
                  <a:cubicBezTo>
                    <a:pt x="18415" y="1303909"/>
                    <a:pt x="0" y="1285494"/>
                    <a:pt x="0" y="1262761"/>
                  </a:cubicBezTo>
                  <a:close/>
                </a:path>
              </a:pathLst>
            </a:custGeom>
            <a:solidFill>
              <a:srgbClr val="02234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669829" y="9003506"/>
            <a:ext cx="257023" cy="205683"/>
            <a:chOff x="0" y="0"/>
            <a:chExt cx="342697" cy="274244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342646" cy="274193"/>
            </a:xfrm>
            <a:custGeom>
              <a:avLst/>
              <a:gdLst/>
              <a:ahLst/>
              <a:cxnLst/>
              <a:rect l="l" t="t" r="r" b="b"/>
              <a:pathLst>
                <a:path w="342646" h="274193">
                  <a:moveTo>
                    <a:pt x="0" y="0"/>
                  </a:moveTo>
                  <a:lnTo>
                    <a:pt x="342646" y="0"/>
                  </a:lnTo>
                  <a:lnTo>
                    <a:pt x="342646" y="274193"/>
                  </a:lnTo>
                  <a:lnTo>
                    <a:pt x="0" y="274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12" r="-14" b="-9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132534" y="8871642"/>
            <a:ext cx="12485484" cy="51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Machine Learning and Deep Learning offer data-driven approaches that adapt to complex, volatile patterns — far beyond traditional statistical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8878" y="408608"/>
            <a:ext cx="1458522" cy="315056"/>
            <a:chOff x="0" y="0"/>
            <a:chExt cx="1693862" cy="4605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799" cy="460503"/>
            </a:xfrm>
            <a:custGeom>
              <a:avLst/>
              <a:gdLst/>
              <a:ahLst/>
              <a:cxnLst/>
              <a:rect l="l" t="t" r="r" b="b"/>
              <a:pathLst>
                <a:path w="1693799" h="46050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1660906" y="0"/>
                  </a:lnTo>
                  <a:cubicBezTo>
                    <a:pt x="1679067" y="0"/>
                    <a:pt x="1693799" y="14732"/>
                    <a:pt x="1693799" y="32893"/>
                  </a:cubicBezTo>
                  <a:lnTo>
                    <a:pt x="1693799" y="427609"/>
                  </a:lnTo>
                  <a:cubicBezTo>
                    <a:pt x="1693799" y="445770"/>
                    <a:pt x="1679067" y="460502"/>
                    <a:pt x="1660906" y="460502"/>
                  </a:cubicBezTo>
                  <a:lnTo>
                    <a:pt x="32893" y="460502"/>
                  </a:lnTo>
                  <a:cubicBezTo>
                    <a:pt x="14732" y="460629"/>
                    <a:pt x="0" y="445897"/>
                    <a:pt x="0" y="427609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9880" y="454205"/>
            <a:ext cx="127035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880" y="997448"/>
            <a:ext cx="4859836" cy="57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749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Project Objectives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19880" y="1871662"/>
            <a:ext cx="9990239" cy="1834601"/>
            <a:chOff x="0" y="0"/>
            <a:chExt cx="13320319" cy="24461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20268" cy="2446147"/>
            </a:xfrm>
            <a:custGeom>
              <a:avLst/>
              <a:gdLst/>
              <a:ahLst/>
              <a:cxnLst/>
              <a:rect l="l" t="t" r="r" b="b"/>
              <a:pathLst>
                <a:path w="13320268" h="2446147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120" y="0"/>
                  </a:lnTo>
                  <a:cubicBezTo>
                    <a:pt x="13301853" y="0"/>
                    <a:pt x="13320268" y="18415"/>
                    <a:pt x="13320268" y="41148"/>
                  </a:cubicBezTo>
                  <a:lnTo>
                    <a:pt x="13320268" y="2404999"/>
                  </a:lnTo>
                  <a:cubicBezTo>
                    <a:pt x="13320268" y="2427732"/>
                    <a:pt x="13301853" y="2446147"/>
                    <a:pt x="13279120" y="2446147"/>
                  </a:cubicBezTo>
                  <a:lnTo>
                    <a:pt x="41148" y="2446147"/>
                  </a:lnTo>
                  <a:cubicBezTo>
                    <a:pt x="18415" y="2446147"/>
                    <a:pt x="0" y="2427732"/>
                    <a:pt x="0" y="2404999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5563" y="2077345"/>
            <a:ext cx="617039" cy="617039"/>
            <a:chOff x="0" y="0"/>
            <a:chExt cx="822719" cy="8227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2706" cy="822706"/>
            </a:xfrm>
            <a:custGeom>
              <a:avLst/>
              <a:gdLst/>
              <a:ahLst/>
              <a:cxnLst/>
              <a:rect l="l" t="t" r="r" b="b"/>
              <a:pathLst>
                <a:path w="822706" h="822706">
                  <a:moveTo>
                    <a:pt x="0" y="411353"/>
                  </a:moveTo>
                  <a:cubicBezTo>
                    <a:pt x="0" y="184150"/>
                    <a:pt x="184150" y="0"/>
                    <a:pt x="411353" y="0"/>
                  </a:cubicBezTo>
                  <a:cubicBezTo>
                    <a:pt x="638556" y="0"/>
                    <a:pt x="822706" y="184150"/>
                    <a:pt x="822706" y="411353"/>
                  </a:cubicBezTo>
                  <a:cubicBezTo>
                    <a:pt x="822706" y="638556"/>
                    <a:pt x="638556" y="822706"/>
                    <a:pt x="411353" y="822706"/>
                  </a:cubicBezTo>
                  <a:cubicBezTo>
                    <a:pt x="184150" y="822706"/>
                    <a:pt x="0" y="638556"/>
                    <a:pt x="0" y="411353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25563" y="2797673"/>
            <a:ext cx="2664914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Predict Stock Prices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5563" y="3184922"/>
            <a:ext cx="9578873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Apply ML and Deep Learning to forecast future closing prices of Indian stocks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9880" y="3847652"/>
            <a:ext cx="9990239" cy="1834601"/>
            <a:chOff x="0" y="0"/>
            <a:chExt cx="13320319" cy="24461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320268" cy="2446147"/>
            </a:xfrm>
            <a:custGeom>
              <a:avLst/>
              <a:gdLst/>
              <a:ahLst/>
              <a:cxnLst/>
              <a:rect l="l" t="t" r="r" b="b"/>
              <a:pathLst>
                <a:path w="13320268" h="2446147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120" y="0"/>
                  </a:lnTo>
                  <a:cubicBezTo>
                    <a:pt x="13301853" y="0"/>
                    <a:pt x="13320268" y="18415"/>
                    <a:pt x="13320268" y="41148"/>
                  </a:cubicBezTo>
                  <a:lnTo>
                    <a:pt x="13320268" y="2404999"/>
                  </a:lnTo>
                  <a:cubicBezTo>
                    <a:pt x="13320268" y="2427732"/>
                    <a:pt x="13301853" y="2446147"/>
                    <a:pt x="13279120" y="2446147"/>
                  </a:cubicBezTo>
                  <a:lnTo>
                    <a:pt x="41148" y="2446147"/>
                  </a:lnTo>
                  <a:cubicBezTo>
                    <a:pt x="18415" y="2446147"/>
                    <a:pt x="0" y="2427732"/>
                    <a:pt x="0" y="2404999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5563" y="4053335"/>
            <a:ext cx="617039" cy="617039"/>
            <a:chOff x="0" y="0"/>
            <a:chExt cx="822719" cy="8227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2706" cy="822706"/>
            </a:xfrm>
            <a:custGeom>
              <a:avLst/>
              <a:gdLst/>
              <a:ahLst/>
              <a:cxnLst/>
              <a:rect l="l" t="t" r="r" b="b"/>
              <a:pathLst>
                <a:path w="822706" h="822706">
                  <a:moveTo>
                    <a:pt x="0" y="411353"/>
                  </a:moveTo>
                  <a:cubicBezTo>
                    <a:pt x="0" y="184150"/>
                    <a:pt x="184150" y="0"/>
                    <a:pt x="411353" y="0"/>
                  </a:cubicBezTo>
                  <a:cubicBezTo>
                    <a:pt x="638556" y="0"/>
                    <a:pt x="822706" y="184150"/>
                    <a:pt x="822706" y="411353"/>
                  </a:cubicBezTo>
                  <a:cubicBezTo>
                    <a:pt x="822706" y="638556"/>
                    <a:pt x="638556" y="822706"/>
                    <a:pt x="411353" y="822706"/>
                  </a:cubicBezTo>
                  <a:cubicBezTo>
                    <a:pt x="184150" y="822706"/>
                    <a:pt x="0" y="638556"/>
                    <a:pt x="0" y="411353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25563" y="4773663"/>
            <a:ext cx="2758383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Compare Algorithms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5563" y="5160912"/>
            <a:ext cx="9578873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Evaluate multiple models — LSTM, XGBoost, SVR, KNN, Decision Tree, Linear Regression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19880" y="5823642"/>
            <a:ext cx="9990239" cy="1834601"/>
            <a:chOff x="0" y="0"/>
            <a:chExt cx="13320319" cy="244613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320268" cy="2446147"/>
            </a:xfrm>
            <a:custGeom>
              <a:avLst/>
              <a:gdLst/>
              <a:ahLst/>
              <a:cxnLst/>
              <a:rect l="l" t="t" r="r" b="b"/>
              <a:pathLst>
                <a:path w="13320268" h="2446147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120" y="0"/>
                  </a:lnTo>
                  <a:cubicBezTo>
                    <a:pt x="13301853" y="0"/>
                    <a:pt x="13320268" y="18415"/>
                    <a:pt x="13320268" y="41148"/>
                  </a:cubicBezTo>
                  <a:lnTo>
                    <a:pt x="13320268" y="2404999"/>
                  </a:lnTo>
                  <a:cubicBezTo>
                    <a:pt x="13320268" y="2427732"/>
                    <a:pt x="13301853" y="2446147"/>
                    <a:pt x="13279120" y="2446147"/>
                  </a:cubicBezTo>
                  <a:lnTo>
                    <a:pt x="41148" y="2446147"/>
                  </a:lnTo>
                  <a:cubicBezTo>
                    <a:pt x="18415" y="2446147"/>
                    <a:pt x="0" y="2427732"/>
                    <a:pt x="0" y="2404999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5563" y="6029325"/>
            <a:ext cx="617039" cy="617039"/>
            <a:chOff x="0" y="0"/>
            <a:chExt cx="822719" cy="8227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22706" cy="822706"/>
            </a:xfrm>
            <a:custGeom>
              <a:avLst/>
              <a:gdLst/>
              <a:ahLst/>
              <a:cxnLst/>
              <a:rect l="l" t="t" r="r" b="b"/>
              <a:pathLst>
                <a:path w="822706" h="822706">
                  <a:moveTo>
                    <a:pt x="0" y="411353"/>
                  </a:moveTo>
                  <a:cubicBezTo>
                    <a:pt x="0" y="184150"/>
                    <a:pt x="184150" y="0"/>
                    <a:pt x="411353" y="0"/>
                  </a:cubicBezTo>
                  <a:cubicBezTo>
                    <a:pt x="638556" y="0"/>
                    <a:pt x="822706" y="184150"/>
                    <a:pt x="822706" y="411353"/>
                  </a:cubicBezTo>
                  <a:cubicBezTo>
                    <a:pt x="822706" y="638556"/>
                    <a:pt x="638556" y="822706"/>
                    <a:pt x="411353" y="822706"/>
                  </a:cubicBezTo>
                  <a:cubicBezTo>
                    <a:pt x="184150" y="822706"/>
                    <a:pt x="0" y="638556"/>
                    <a:pt x="0" y="411353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25563" y="6749653"/>
            <a:ext cx="2578598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Identify Best Model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5563" y="7136902"/>
            <a:ext cx="9578873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Determine the highest-accuracy algorithm using RMSE and R² metrics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19880" y="7799632"/>
            <a:ext cx="9990239" cy="1834601"/>
            <a:chOff x="0" y="0"/>
            <a:chExt cx="13320319" cy="244613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320268" cy="2446147"/>
            </a:xfrm>
            <a:custGeom>
              <a:avLst/>
              <a:gdLst/>
              <a:ahLst/>
              <a:cxnLst/>
              <a:rect l="l" t="t" r="r" b="b"/>
              <a:pathLst>
                <a:path w="13320268" h="2446147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3279120" y="0"/>
                  </a:lnTo>
                  <a:cubicBezTo>
                    <a:pt x="13301853" y="0"/>
                    <a:pt x="13320268" y="18415"/>
                    <a:pt x="13320268" y="41148"/>
                  </a:cubicBezTo>
                  <a:lnTo>
                    <a:pt x="13320268" y="2404999"/>
                  </a:lnTo>
                  <a:cubicBezTo>
                    <a:pt x="13320268" y="2427732"/>
                    <a:pt x="13301853" y="2446147"/>
                    <a:pt x="13279120" y="2446147"/>
                  </a:cubicBezTo>
                  <a:lnTo>
                    <a:pt x="41148" y="2446147"/>
                  </a:lnTo>
                  <a:cubicBezTo>
                    <a:pt x="18415" y="2446147"/>
                    <a:pt x="0" y="2427732"/>
                    <a:pt x="0" y="2404999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25563" y="8005315"/>
            <a:ext cx="617039" cy="617039"/>
            <a:chOff x="0" y="0"/>
            <a:chExt cx="822719" cy="8227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22706" cy="822706"/>
            </a:xfrm>
            <a:custGeom>
              <a:avLst/>
              <a:gdLst/>
              <a:ahLst/>
              <a:cxnLst/>
              <a:rect l="l" t="t" r="r" b="b"/>
              <a:pathLst>
                <a:path w="822706" h="822706">
                  <a:moveTo>
                    <a:pt x="0" y="411353"/>
                  </a:moveTo>
                  <a:cubicBezTo>
                    <a:pt x="0" y="184150"/>
                    <a:pt x="184150" y="0"/>
                    <a:pt x="411353" y="0"/>
                  </a:cubicBezTo>
                  <a:cubicBezTo>
                    <a:pt x="638556" y="0"/>
                    <a:pt x="822706" y="184150"/>
                    <a:pt x="822706" y="411353"/>
                  </a:cubicBezTo>
                  <a:cubicBezTo>
                    <a:pt x="822706" y="638556"/>
                    <a:pt x="638556" y="822706"/>
                    <a:pt x="411353" y="822706"/>
                  </a:cubicBezTo>
                  <a:cubicBezTo>
                    <a:pt x="184150" y="822706"/>
                    <a:pt x="0" y="638556"/>
                    <a:pt x="0" y="411353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25563" y="8725643"/>
            <a:ext cx="2420093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Reduce Risk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5563" y="9112891"/>
            <a:ext cx="9578873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Empower investors to make data-informed decisions and minimize financial exposure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15097" y="359124"/>
            <a:ext cx="1859280" cy="406746"/>
            <a:chOff x="0" y="0"/>
            <a:chExt cx="2478888" cy="5423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9040" cy="542417"/>
            </a:xfrm>
            <a:custGeom>
              <a:avLst/>
              <a:gdLst/>
              <a:ahLst/>
              <a:cxnLst/>
              <a:rect l="l" t="t" r="r" b="b"/>
              <a:pathLst>
                <a:path w="2479040" h="542417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2441575" y="0"/>
                  </a:lnTo>
                  <a:cubicBezTo>
                    <a:pt x="2462276" y="0"/>
                    <a:pt x="2479040" y="16764"/>
                    <a:pt x="2479040" y="37465"/>
                  </a:cubicBezTo>
                  <a:lnTo>
                    <a:pt x="2479040" y="504952"/>
                  </a:lnTo>
                  <a:cubicBezTo>
                    <a:pt x="2479040" y="525653"/>
                    <a:pt x="2462276" y="542417"/>
                    <a:pt x="2441575" y="542417"/>
                  </a:cubicBezTo>
                  <a:lnTo>
                    <a:pt x="37465" y="542417"/>
                  </a:lnTo>
                  <a:cubicBezTo>
                    <a:pt x="16764" y="542290"/>
                    <a:pt x="0" y="525526"/>
                    <a:pt x="0" y="504952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4743" y="8484241"/>
            <a:ext cx="57150" cy="1176633"/>
            <a:chOff x="0" y="0"/>
            <a:chExt cx="76200" cy="15688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200" cy="1568831"/>
            </a:xfrm>
            <a:custGeom>
              <a:avLst/>
              <a:gdLst/>
              <a:ahLst/>
              <a:cxnLst/>
              <a:rect l="l" t="t" r="r" b="b"/>
              <a:pathLst>
                <a:path w="76200" h="1568831">
                  <a:moveTo>
                    <a:pt x="0" y="0"/>
                  </a:moveTo>
                  <a:lnTo>
                    <a:pt x="76200" y="0"/>
                  </a:lnTo>
                  <a:lnTo>
                    <a:pt x="76200" y="1568831"/>
                  </a:lnTo>
                  <a:lnTo>
                    <a:pt x="0" y="1568831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1099" y="8484241"/>
            <a:ext cx="57150" cy="1176633"/>
            <a:chOff x="0" y="0"/>
            <a:chExt cx="76200" cy="15688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" cy="1568831"/>
            </a:xfrm>
            <a:custGeom>
              <a:avLst/>
              <a:gdLst/>
              <a:ahLst/>
              <a:cxnLst/>
              <a:rect l="l" t="t" r="r" b="b"/>
              <a:pathLst>
                <a:path w="76200" h="1568831">
                  <a:moveTo>
                    <a:pt x="0" y="0"/>
                  </a:moveTo>
                  <a:lnTo>
                    <a:pt x="76200" y="0"/>
                  </a:lnTo>
                  <a:lnTo>
                    <a:pt x="76200" y="1568831"/>
                  </a:lnTo>
                  <a:lnTo>
                    <a:pt x="0" y="1568831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97608" y="8484241"/>
            <a:ext cx="57150" cy="1176633"/>
            <a:chOff x="0" y="0"/>
            <a:chExt cx="76200" cy="15688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00" cy="1568831"/>
            </a:xfrm>
            <a:custGeom>
              <a:avLst/>
              <a:gdLst/>
              <a:ahLst/>
              <a:cxnLst/>
              <a:rect l="l" t="t" r="r" b="b"/>
              <a:pathLst>
                <a:path w="76200" h="1568831">
                  <a:moveTo>
                    <a:pt x="0" y="0"/>
                  </a:moveTo>
                  <a:lnTo>
                    <a:pt x="76200" y="0"/>
                  </a:lnTo>
                  <a:lnTo>
                    <a:pt x="76200" y="1568831"/>
                  </a:lnTo>
                  <a:lnTo>
                    <a:pt x="0" y="1568831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53318" y="2660797"/>
            <a:ext cx="9116760" cy="4965406"/>
            <a:chOff x="0" y="0"/>
            <a:chExt cx="25183334" cy="1371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183334" cy="13716000"/>
            </a:xfrm>
            <a:custGeom>
              <a:avLst/>
              <a:gdLst/>
              <a:ahLst/>
              <a:cxnLst/>
              <a:rect l="l" t="t" r="r" b="b"/>
              <a:pathLst>
                <a:path w="25183334" h="13716000">
                  <a:moveTo>
                    <a:pt x="0" y="0"/>
                  </a:moveTo>
                  <a:lnTo>
                    <a:pt x="25183334" y="0"/>
                  </a:lnTo>
                  <a:lnTo>
                    <a:pt x="25183334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t="-224" b="-224"/>
              </a:stretch>
            </a:blip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97326" y="403852"/>
            <a:ext cx="1859280" cy="245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MODELS — LSTM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3318" y="1105795"/>
            <a:ext cx="9983391" cy="645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Long Short-Term Memory (LSTM)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47844AB-ECEE-E7BD-3C6E-77266119D312}"/>
              </a:ext>
            </a:extLst>
          </p:cNvPr>
          <p:cNvGrpSpPr/>
          <p:nvPr/>
        </p:nvGrpSpPr>
        <p:grpSpPr>
          <a:xfrm>
            <a:off x="11617312" y="2982965"/>
            <a:ext cx="4942580" cy="1718475"/>
            <a:chOff x="11617312" y="2586309"/>
            <a:chExt cx="4942580" cy="1718475"/>
          </a:xfrm>
        </p:grpSpPr>
        <p:sp>
          <p:nvSpPr>
            <p:cNvPr id="16" name="TextBox 16"/>
            <p:cNvSpPr txBox="1"/>
            <p:nvPr/>
          </p:nvSpPr>
          <p:spPr>
            <a:xfrm>
              <a:off x="11624702" y="2586309"/>
              <a:ext cx="2750191" cy="321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87"/>
                </a:lnSpc>
              </a:pPr>
              <a:r>
                <a:rPr lang="en-US" sz="2125" b="1" dirty="0">
                  <a:solidFill>
                    <a:srgbClr val="FFFFFF"/>
                  </a:solidFill>
                  <a:latin typeface="Arial" panose="020B0604020202020204" pitchFamily="34" charset="0"/>
                  <a:ea typeface="Arimo Bold"/>
                  <a:cs typeface="Arial" panose="020B0604020202020204" pitchFamily="34" charset="0"/>
                  <a:sym typeface="Arimo Bold"/>
                </a:rPr>
                <a:t>What is LSTM?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617312" y="3001542"/>
              <a:ext cx="4942580" cy="13032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62"/>
                </a:lnSpc>
              </a:pPr>
              <a:r>
                <a:rPr lang="en-US" sz="1812" dirty="0">
                  <a:solidFill>
                    <a:srgbClr val="D9E1FF"/>
                  </a:solidFill>
                  <a:latin typeface="Arial" panose="020B0604020202020204" pitchFamily="34" charset="0"/>
                  <a:ea typeface="Arimo"/>
                  <a:cs typeface="Arial" panose="020B0604020202020204" pitchFamily="34" charset="0"/>
                  <a:sym typeface="Arimo"/>
                </a:rPr>
                <a:t>A specialized Recurrent Neural Network (RNN) architecture designed to learn </a:t>
              </a:r>
              <a:r>
                <a:rPr lang="en-US" sz="1812" b="1" dirty="0">
                  <a:solidFill>
                    <a:srgbClr val="D9E1FF"/>
                  </a:solidFill>
                  <a:latin typeface="Arial" panose="020B0604020202020204" pitchFamily="34" charset="0"/>
                  <a:ea typeface="Arimo Bold"/>
                  <a:cs typeface="Arial" panose="020B0604020202020204" pitchFamily="34" charset="0"/>
                  <a:sym typeface="Arimo Bold"/>
                </a:rPr>
                <a:t>long-range temporal dependencies</a:t>
              </a:r>
              <a:r>
                <a:rPr lang="en-US" sz="1812" dirty="0">
                  <a:solidFill>
                    <a:srgbClr val="D9E1FF"/>
                  </a:solidFill>
                  <a:latin typeface="Arial" panose="020B0604020202020204" pitchFamily="34" charset="0"/>
                  <a:ea typeface="Arimo"/>
                  <a:cs typeface="Arial" panose="020B0604020202020204" pitchFamily="34" charset="0"/>
                  <a:sym typeface="Arimo"/>
                </a:rPr>
                <a:t> — critical for sequential financial data.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44126" y="8493766"/>
            <a:ext cx="4148138" cy="32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Vanishing Gradient Solution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44126" y="8908999"/>
            <a:ext cx="4617396" cy="63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Forget, input, and output gates selectively retain or discard historical information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80482" y="8493766"/>
            <a:ext cx="2868216" cy="32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Sequence Memory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0482" y="8908999"/>
            <a:ext cx="4617539" cy="63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Captures weekly, monthly, and yearly price trends simultaneously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16991" y="8493766"/>
            <a:ext cx="3838575" cy="32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Outperforms Simple RNN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16991" y="8908999"/>
            <a:ext cx="4617539" cy="63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Avoids short-term memory limitation that degrades traditional RNNs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3EF52AC-E6FD-E102-EF57-7A825822EAAA}"/>
              </a:ext>
            </a:extLst>
          </p:cNvPr>
          <p:cNvSpPr/>
          <p:nvPr/>
        </p:nvSpPr>
        <p:spPr>
          <a:xfrm>
            <a:off x="18440400" y="3346671"/>
            <a:ext cx="3648908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Unlike standard RNNs, LSTM retains gradients over long sequences using gated memory cells.</a:t>
            </a:r>
            <a:endParaRPr lang="en-US" sz="15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AA0FDFFC-A22F-6D71-51E6-AB6EB22E1833}"/>
              </a:ext>
            </a:extLst>
          </p:cNvPr>
          <p:cNvSpPr/>
          <p:nvPr/>
        </p:nvSpPr>
        <p:spPr>
          <a:xfrm>
            <a:off x="18516600" y="4763638"/>
            <a:ext cx="3648908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Forget Gate</a:t>
            </a:r>
            <a:r>
              <a:rPr lang="en-US" sz="1550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 — discards irrelevant history. </a:t>
            </a:r>
            <a:r>
              <a:rPr lang="en-US" sz="1550" b="1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Input Gate</a:t>
            </a:r>
            <a:r>
              <a:rPr lang="en-US" sz="1550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 — stores new information. </a:t>
            </a:r>
            <a:r>
              <a:rPr lang="en-US" sz="1550" b="1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Output Gate</a:t>
            </a:r>
            <a:r>
              <a:rPr lang="en-US" sz="1550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 — determines cell output.</a:t>
            </a:r>
            <a:endParaRPr lang="en-US" sz="15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C42A70DF-A628-109D-45B8-278933941A26}"/>
              </a:ext>
            </a:extLst>
          </p:cNvPr>
          <p:cNvSpPr/>
          <p:nvPr/>
        </p:nvSpPr>
        <p:spPr>
          <a:xfrm>
            <a:off x="18516600" y="6259283"/>
            <a:ext cx="3648908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0000"/>
                </a:solidFill>
                <a:latin typeface="Arial" panose="020B0604020202020204" pitchFamily="34" charset="0"/>
                <a:ea typeface="Noto Sans TC" pitchFamily="34" charset="-122"/>
                <a:cs typeface="Arial" panose="020B0604020202020204" pitchFamily="34" charset="0"/>
              </a:rPr>
              <a:t>Stock price sequences exhibit strong temporal dependencies — making LSTM a natural fit for this domain.</a:t>
            </a:r>
            <a:endParaRPr lang="en-US" sz="15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DE88BC-98EE-7F5F-3BF1-5A26875CBA56}"/>
              </a:ext>
            </a:extLst>
          </p:cNvPr>
          <p:cNvGrpSpPr/>
          <p:nvPr/>
        </p:nvGrpSpPr>
        <p:grpSpPr>
          <a:xfrm>
            <a:off x="11617312" y="5566055"/>
            <a:ext cx="4878438" cy="1609771"/>
            <a:chOff x="11662163" y="4965147"/>
            <a:chExt cx="4878438" cy="1609771"/>
          </a:xfrm>
        </p:grpSpPr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28527818-C0CF-9FB7-D4E5-DE91A75433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74676" y="6311870"/>
              <a:ext cx="303014" cy="219422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00A8E24-6485-90A7-DFDB-8ADD5CB716CA}"/>
                </a:ext>
              </a:extLst>
            </p:cNvPr>
            <p:cNvGrpSpPr/>
            <p:nvPr/>
          </p:nvGrpSpPr>
          <p:grpSpPr>
            <a:xfrm>
              <a:off x="11662163" y="4965147"/>
              <a:ext cx="4878438" cy="1609771"/>
              <a:chOff x="11662163" y="4965147"/>
              <a:chExt cx="4878438" cy="160977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1662163" y="4965147"/>
                <a:ext cx="4878438" cy="32175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2687"/>
                  </a:lnSpc>
                </a:pPr>
                <a:r>
                  <a:rPr lang="en-US" sz="2125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mo Bold"/>
                    <a:cs typeface="Arial" panose="020B0604020202020204" pitchFamily="34" charset="0"/>
                    <a:sym typeface="Arimo Bold"/>
                  </a:rPr>
                  <a:t>Why LSTM for Stock Prediction?</a:t>
                </a:r>
              </a:p>
            </p:txBody>
          </p:sp>
          <p:sp>
            <p:nvSpPr>
              <p:cNvPr id="26" name="Text 3">
                <a:extLst>
                  <a:ext uri="{FF2B5EF4-FFF2-40B4-BE49-F238E27FC236}">
                    <a16:creationId xmlns:a16="http://schemas.microsoft.com/office/drawing/2014/main" id="{A6FF0DDC-5CBE-A423-C0A3-6EE106B7BEE3}"/>
                  </a:ext>
                </a:extLst>
              </p:cNvPr>
              <p:cNvSpPr/>
              <p:nvPr/>
            </p:nvSpPr>
            <p:spPr>
              <a:xfrm>
                <a:off x="12259227" y="5476203"/>
                <a:ext cx="3384947" cy="3156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450"/>
                  </a:lnSpc>
                  <a:buNone/>
                </a:pPr>
                <a:r>
                  <a:rPr lang="en-US" sz="195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  <a:latin typeface="Arial" panose="020B0604020202020204" pitchFamily="34" charset="0"/>
                    <a:ea typeface="Sora Medium" pitchFamily="34" charset="-122"/>
                    <a:cs typeface="Arial" panose="020B0604020202020204" pitchFamily="34" charset="0"/>
                  </a:rPr>
                  <a:t>Solves Vanishing Gradient</a:t>
                </a:r>
                <a:endParaRPr lang="en-US" sz="195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Text 5">
                <a:extLst>
                  <a:ext uri="{FF2B5EF4-FFF2-40B4-BE49-F238E27FC236}">
                    <a16:creationId xmlns:a16="http://schemas.microsoft.com/office/drawing/2014/main" id="{93F8A659-2A21-F06F-E235-8B6B58A7BBF6}"/>
                  </a:ext>
                </a:extLst>
              </p:cNvPr>
              <p:cNvSpPr/>
              <p:nvPr/>
            </p:nvSpPr>
            <p:spPr>
              <a:xfrm>
                <a:off x="12259227" y="5869242"/>
                <a:ext cx="3336727" cy="3156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450"/>
                  </a:lnSpc>
                  <a:buNone/>
                </a:pPr>
                <a:r>
                  <a:rPr lang="en-US" sz="195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  <a:latin typeface="Arial" panose="020B0604020202020204" pitchFamily="34" charset="0"/>
                    <a:ea typeface="Sora Medium" pitchFamily="34" charset="-122"/>
                    <a:cs typeface="Arial" panose="020B0604020202020204" pitchFamily="34" charset="0"/>
                  </a:rPr>
                  <a:t>Three Gating Mechanisms</a:t>
                </a:r>
                <a:endParaRPr lang="en-US" sz="195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Text 7">
                <a:extLst>
                  <a:ext uri="{FF2B5EF4-FFF2-40B4-BE49-F238E27FC236}">
                    <a16:creationId xmlns:a16="http://schemas.microsoft.com/office/drawing/2014/main" id="{98E0F606-4532-E603-DAB3-677D22A7CA36}"/>
                  </a:ext>
                </a:extLst>
              </p:cNvPr>
              <p:cNvSpPr/>
              <p:nvPr/>
            </p:nvSpPr>
            <p:spPr>
              <a:xfrm>
                <a:off x="12275625" y="6259283"/>
                <a:ext cx="2601635" cy="3156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450"/>
                  </a:lnSpc>
                  <a:buNone/>
                </a:pPr>
                <a:r>
                  <a:rPr lang="en-US" sz="195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  <a:latin typeface="Arial" panose="020B0604020202020204" pitchFamily="34" charset="0"/>
                    <a:ea typeface="Sora Medium" pitchFamily="34" charset="-122"/>
                    <a:cs typeface="Arial" panose="020B0604020202020204" pitchFamily="34" charset="0"/>
                  </a:rPr>
                  <a:t>Ideal for Time Series</a:t>
                </a:r>
                <a:endParaRPr lang="en-US" sz="195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4" name="Image 4" descr="preencoded.png">
                <a:extLst>
                  <a:ext uri="{FF2B5EF4-FFF2-40B4-BE49-F238E27FC236}">
                    <a16:creationId xmlns:a16="http://schemas.microsoft.com/office/drawing/2014/main" id="{7BBC8F57-C721-D4DF-1738-4D49A3A88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676524" y="5905404"/>
                <a:ext cx="303014" cy="219422"/>
              </a:xfrm>
              <a:prstGeom prst="rect">
                <a:avLst/>
              </a:prstGeom>
            </p:spPr>
          </p:pic>
          <p:pic>
            <p:nvPicPr>
              <p:cNvPr id="35" name="Image 4" descr="preencoded.png">
                <a:extLst>
                  <a:ext uri="{FF2B5EF4-FFF2-40B4-BE49-F238E27FC236}">
                    <a16:creationId xmlns:a16="http://schemas.microsoft.com/office/drawing/2014/main" id="{6A2FBC93-6169-2A49-1734-5C8BBE01C8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674676" y="5524309"/>
                <a:ext cx="303014" cy="21942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707" y="444246"/>
            <a:ext cx="2119760" cy="482356"/>
            <a:chOff x="0" y="0"/>
            <a:chExt cx="2826347" cy="6431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26385" cy="643128"/>
            </a:xfrm>
            <a:custGeom>
              <a:avLst/>
              <a:gdLst/>
              <a:ahLst/>
              <a:cxnLst/>
              <a:rect l="l" t="t" r="r" b="b"/>
              <a:pathLst>
                <a:path w="2826385" h="643128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2783713" y="0"/>
                  </a:lnTo>
                  <a:cubicBezTo>
                    <a:pt x="2807208" y="0"/>
                    <a:pt x="2826385" y="19050"/>
                    <a:pt x="2826385" y="42672"/>
                  </a:cubicBezTo>
                  <a:lnTo>
                    <a:pt x="2826385" y="600456"/>
                  </a:lnTo>
                  <a:cubicBezTo>
                    <a:pt x="2826385" y="623951"/>
                    <a:pt x="2807335" y="643128"/>
                    <a:pt x="2783713" y="643128"/>
                  </a:cubicBezTo>
                  <a:lnTo>
                    <a:pt x="42672" y="643128"/>
                  </a:lnTo>
                  <a:cubicBezTo>
                    <a:pt x="19050" y="643128"/>
                    <a:pt x="0" y="624078"/>
                    <a:pt x="0" y="600456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66477" y="524537"/>
            <a:ext cx="1800073" cy="28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MODELS — LSTM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2707" y="1295552"/>
            <a:ext cx="9796462" cy="72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LSTM — Our Implementation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95683" y="2482901"/>
            <a:ext cx="15896634" cy="5965031"/>
            <a:chOff x="0" y="0"/>
            <a:chExt cx="21195513" cy="7953375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1195537" cy="7953375"/>
            </a:xfrm>
            <a:custGeom>
              <a:avLst/>
              <a:gdLst/>
              <a:ahLst/>
              <a:cxnLst/>
              <a:rect l="l" t="t" r="r" b="b"/>
              <a:pathLst>
                <a:path w="21195537" h="7953375">
                  <a:moveTo>
                    <a:pt x="0" y="0"/>
                  </a:moveTo>
                  <a:lnTo>
                    <a:pt x="21195537" y="0"/>
                  </a:lnTo>
                  <a:lnTo>
                    <a:pt x="21195537" y="7953375"/>
                  </a:lnTo>
                  <a:lnTo>
                    <a:pt x="0" y="795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r="-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039917" y="6984892"/>
            <a:ext cx="2397643" cy="40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18234" y="6767808"/>
            <a:ext cx="2397643" cy="841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Model Training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12973" y="6767808"/>
            <a:ext cx="2397643" cy="841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Sequence Creation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07712" y="6767808"/>
            <a:ext cx="2397643" cy="40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Preprocessing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36756" y="6767808"/>
            <a:ext cx="2397643" cy="841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Data Collection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2707" y="8638727"/>
            <a:ext cx="16422586" cy="75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Historical stock data from </a:t>
            </a:r>
            <a:r>
              <a:rPr lang="en-US" sz="206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12 Indian companies</a:t>
            </a:r>
            <a:r>
              <a:rPr lang="en-US" sz="20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was sourced and normalized using a </a:t>
            </a:r>
            <a:r>
              <a:rPr lang="en-US" sz="206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Min-Max scaler</a:t>
            </a:r>
            <a:r>
              <a:rPr lang="en-US" sz="20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before feeding into a stacked LSTM architecture. The model was evaluated using </a:t>
            </a:r>
            <a:r>
              <a:rPr lang="en-US" sz="206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RMSE</a:t>
            </a:r>
            <a:r>
              <a:rPr lang="en-US" sz="20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and </a:t>
            </a:r>
            <a:r>
              <a:rPr lang="en-US" sz="206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R²</a:t>
            </a:r>
            <a:r>
              <a:rPr lang="en-US" sz="20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, achieving an average R² of </a:t>
            </a:r>
            <a:r>
              <a:rPr lang="en-US" sz="2062" b="1" dirty="0">
                <a:solidFill>
                  <a:srgbClr val="806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0.85</a:t>
            </a:r>
            <a:r>
              <a:rPr lang="en-US" sz="20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across all companies.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20769" y="310014"/>
            <a:ext cx="2213077" cy="373841"/>
            <a:chOff x="0" y="0"/>
            <a:chExt cx="2680691" cy="4605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80716" cy="460503"/>
            </a:xfrm>
            <a:custGeom>
              <a:avLst/>
              <a:gdLst/>
              <a:ahLst/>
              <a:cxnLst/>
              <a:rect l="l" t="t" r="r" b="b"/>
              <a:pathLst>
                <a:path w="2680716" h="46050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2647823" y="0"/>
                  </a:lnTo>
                  <a:cubicBezTo>
                    <a:pt x="2665984" y="0"/>
                    <a:pt x="2680716" y="14732"/>
                    <a:pt x="2680716" y="32893"/>
                  </a:cubicBezTo>
                  <a:lnTo>
                    <a:pt x="2680716" y="427609"/>
                  </a:lnTo>
                  <a:cubicBezTo>
                    <a:pt x="2680716" y="445770"/>
                    <a:pt x="2665984" y="460502"/>
                    <a:pt x="2647823" y="460502"/>
                  </a:cubicBezTo>
                  <a:lnTo>
                    <a:pt x="32893" y="460502"/>
                  </a:lnTo>
                  <a:cubicBezTo>
                    <a:pt x="14732" y="460629"/>
                    <a:pt x="0" y="445897"/>
                    <a:pt x="0" y="427609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64146" y="2815676"/>
            <a:ext cx="4349506" cy="28575"/>
            <a:chOff x="0" y="0"/>
            <a:chExt cx="5799341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99328" cy="38100"/>
            </a:xfrm>
            <a:custGeom>
              <a:avLst/>
              <a:gdLst/>
              <a:ahLst/>
              <a:cxnLst/>
              <a:rect l="l" t="t" r="r" b="b"/>
              <a:pathLst>
                <a:path w="5799328" h="38100">
                  <a:moveTo>
                    <a:pt x="0" y="0"/>
                  </a:moveTo>
                  <a:lnTo>
                    <a:pt x="5799328" y="0"/>
                  </a:lnTo>
                  <a:lnTo>
                    <a:pt x="579932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64146" y="4591050"/>
            <a:ext cx="4349506" cy="28575"/>
            <a:chOff x="0" y="0"/>
            <a:chExt cx="5799341" cy="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99328" cy="38100"/>
            </a:xfrm>
            <a:custGeom>
              <a:avLst/>
              <a:gdLst/>
              <a:ahLst/>
              <a:cxnLst/>
              <a:rect l="l" t="t" r="r" b="b"/>
              <a:pathLst>
                <a:path w="5799328" h="38100">
                  <a:moveTo>
                    <a:pt x="0" y="0"/>
                  </a:moveTo>
                  <a:lnTo>
                    <a:pt x="5799328" y="0"/>
                  </a:lnTo>
                  <a:lnTo>
                    <a:pt x="579932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64146" y="6366424"/>
            <a:ext cx="4349506" cy="28575"/>
            <a:chOff x="0" y="0"/>
            <a:chExt cx="5799341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99328" cy="38100"/>
            </a:xfrm>
            <a:custGeom>
              <a:avLst/>
              <a:gdLst/>
              <a:ahLst/>
              <a:cxnLst/>
              <a:rect l="l" t="t" r="r" b="b"/>
              <a:pathLst>
                <a:path w="5799328" h="38100">
                  <a:moveTo>
                    <a:pt x="0" y="0"/>
                  </a:moveTo>
                  <a:lnTo>
                    <a:pt x="5799328" y="0"/>
                  </a:lnTo>
                  <a:lnTo>
                    <a:pt x="579932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64146" y="8141789"/>
            <a:ext cx="4349506" cy="28575"/>
            <a:chOff x="0" y="0"/>
            <a:chExt cx="5799341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99328" cy="38100"/>
            </a:xfrm>
            <a:custGeom>
              <a:avLst/>
              <a:gdLst/>
              <a:ahLst/>
              <a:cxnLst/>
              <a:rect l="l" t="t" r="r" b="b"/>
              <a:pathLst>
                <a:path w="5799328" h="38100">
                  <a:moveTo>
                    <a:pt x="0" y="0"/>
                  </a:moveTo>
                  <a:lnTo>
                    <a:pt x="5799328" y="0"/>
                  </a:lnTo>
                  <a:lnTo>
                    <a:pt x="579932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25020" y="7895930"/>
            <a:ext cx="8508054" cy="977951"/>
            <a:chOff x="0" y="0"/>
            <a:chExt cx="11344072" cy="13039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44148" cy="1303909"/>
            </a:xfrm>
            <a:custGeom>
              <a:avLst/>
              <a:gdLst/>
              <a:ahLst/>
              <a:cxnLst/>
              <a:rect l="l" t="t" r="r" b="b"/>
              <a:pathLst>
                <a:path w="11344148" h="1303909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1303000" y="0"/>
                  </a:lnTo>
                  <a:cubicBezTo>
                    <a:pt x="11325733" y="0"/>
                    <a:pt x="11344148" y="18415"/>
                    <a:pt x="11344148" y="41148"/>
                  </a:cubicBezTo>
                  <a:lnTo>
                    <a:pt x="11344148" y="1262761"/>
                  </a:lnTo>
                  <a:cubicBezTo>
                    <a:pt x="11344148" y="1285494"/>
                    <a:pt x="11325733" y="1303909"/>
                    <a:pt x="11303000" y="1303909"/>
                  </a:cubicBezTo>
                  <a:lnTo>
                    <a:pt x="41148" y="1303909"/>
                  </a:lnTo>
                  <a:cubicBezTo>
                    <a:pt x="18415" y="1303909"/>
                    <a:pt x="0" y="1285494"/>
                    <a:pt x="0" y="1262761"/>
                  </a:cubicBezTo>
                  <a:close/>
                </a:path>
              </a:pathLst>
            </a:custGeom>
            <a:solidFill>
              <a:srgbClr val="183A1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30703" y="8182423"/>
            <a:ext cx="257023" cy="205683"/>
            <a:chOff x="0" y="0"/>
            <a:chExt cx="342697" cy="274244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42646" cy="274193"/>
            </a:xfrm>
            <a:custGeom>
              <a:avLst/>
              <a:gdLst/>
              <a:ahLst/>
              <a:cxnLst/>
              <a:rect l="l" t="t" r="r" b="b"/>
              <a:pathLst>
                <a:path w="342646" h="274193">
                  <a:moveTo>
                    <a:pt x="0" y="0"/>
                  </a:moveTo>
                  <a:lnTo>
                    <a:pt x="342646" y="0"/>
                  </a:lnTo>
                  <a:lnTo>
                    <a:pt x="342646" y="274193"/>
                  </a:lnTo>
                  <a:lnTo>
                    <a:pt x="0" y="274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12" r="-14" b="-9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25020" y="2623318"/>
            <a:ext cx="8508054" cy="4653758"/>
            <a:chOff x="0" y="0"/>
            <a:chExt cx="25075746" cy="137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075747" cy="13716000"/>
            </a:xfrm>
            <a:custGeom>
              <a:avLst/>
              <a:gdLst/>
              <a:ahLst/>
              <a:cxnLst/>
              <a:rect l="l" t="t" r="r" b="b"/>
              <a:pathLst>
                <a:path w="25075747" h="13716000">
                  <a:moveTo>
                    <a:pt x="0" y="0"/>
                  </a:moveTo>
                  <a:lnTo>
                    <a:pt x="25075747" y="0"/>
                  </a:lnTo>
                  <a:lnTo>
                    <a:pt x="25075747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/>
              <a:stretch>
                <a:fillRect l="-723" r="-7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97905" y="366854"/>
            <a:ext cx="2213077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MODELS — XGBOOST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64146" y="1017689"/>
            <a:ext cx="10191159" cy="57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749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XGBoost — Extreme Gradient Boosting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64146" y="1995192"/>
            <a:ext cx="2763145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How XGBoost Works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64146" y="2456707"/>
            <a:ext cx="411366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64146" y="2937567"/>
            <a:ext cx="2420093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Weak Learners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64146" y="3381375"/>
            <a:ext cx="4349506" cy="51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Builds an ensemble of shallow decision trees sequentially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64146" y="4232072"/>
            <a:ext cx="411366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64146" y="4712941"/>
            <a:ext cx="2420093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Error Correction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64146" y="5156749"/>
            <a:ext cx="4349506" cy="51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Each new tree corrects residual errors of its predecessor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64146" y="6007446"/>
            <a:ext cx="411366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64146" y="6488316"/>
            <a:ext cx="2420093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Regularization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64146" y="6932114"/>
            <a:ext cx="4349506" cy="51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L1/L2 penalties prevent overfitting on noisy financial data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4146" y="7782820"/>
            <a:ext cx="411366" cy="24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64146" y="8263680"/>
            <a:ext cx="2505370" cy="285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Parallel Processing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64146" y="8707488"/>
            <a:ext cx="4349506" cy="51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Optimized tree construction for fast training at scale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93409" y="8050559"/>
            <a:ext cx="7633992" cy="51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XGBoost's</a:t>
            </a:r>
            <a:r>
              <a:rPr lang="en-US" sz="1562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built-in regularization and boosting mechanism make it exceptionally resistant to overfitting — a critical advantage with noisy stock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5376" y="383419"/>
            <a:ext cx="2330653" cy="417014"/>
            <a:chOff x="0" y="0"/>
            <a:chExt cx="3107538" cy="5560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07436" cy="556006"/>
            </a:xfrm>
            <a:custGeom>
              <a:avLst/>
              <a:gdLst/>
              <a:ahLst/>
              <a:cxnLst/>
              <a:rect l="l" t="t" r="r" b="b"/>
              <a:pathLst>
                <a:path w="3107436" h="556006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3069336" y="0"/>
                  </a:lnTo>
                  <a:cubicBezTo>
                    <a:pt x="3090418" y="0"/>
                    <a:pt x="3107436" y="17018"/>
                    <a:pt x="3107436" y="38100"/>
                  </a:cubicBezTo>
                  <a:lnTo>
                    <a:pt x="3107436" y="517906"/>
                  </a:lnTo>
                  <a:cubicBezTo>
                    <a:pt x="3107436" y="538988"/>
                    <a:pt x="3090418" y="556006"/>
                    <a:pt x="3069336" y="556006"/>
                  </a:cubicBezTo>
                  <a:lnTo>
                    <a:pt x="38100" y="556006"/>
                  </a:lnTo>
                  <a:cubicBezTo>
                    <a:pt x="17018" y="556006"/>
                    <a:pt x="0" y="538988"/>
                    <a:pt x="0" y="517906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44507" y="469072"/>
            <a:ext cx="2044598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MODELS — XGBOOST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1518" y="1193006"/>
            <a:ext cx="9700317" cy="656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XGBoost — Our Implementation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01518" y="3472901"/>
            <a:ext cx="9861499" cy="4820241"/>
            <a:chOff x="0" y="0"/>
            <a:chExt cx="13148666" cy="642698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3148690" cy="6426962"/>
            </a:xfrm>
            <a:custGeom>
              <a:avLst/>
              <a:gdLst/>
              <a:ahLst/>
              <a:cxnLst/>
              <a:rect l="l" t="t" r="r" b="b"/>
              <a:pathLst>
                <a:path w="13148690" h="6426962">
                  <a:moveTo>
                    <a:pt x="0" y="0"/>
                  </a:moveTo>
                  <a:lnTo>
                    <a:pt x="13148690" y="0"/>
                  </a:lnTo>
                  <a:lnTo>
                    <a:pt x="13148690" y="6426962"/>
                  </a:lnTo>
                  <a:lnTo>
                    <a:pt x="0" y="6426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" b="-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05539" y="5111277"/>
            <a:ext cx="2384222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Feature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50970" y="4007768"/>
            <a:ext cx="2163585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Preprocessing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84969" y="6276089"/>
            <a:ext cx="2163585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Model Training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39798" y="7400030"/>
            <a:ext cx="2163585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Evaluation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54158" y="2388241"/>
            <a:ext cx="4722171" cy="33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Key Implementation Highlights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839870" y="2966885"/>
            <a:ext cx="5070129" cy="2130923"/>
            <a:chOff x="0" y="0"/>
            <a:chExt cx="6760172" cy="2841231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6721983" cy="2803144"/>
            </a:xfrm>
            <a:custGeom>
              <a:avLst/>
              <a:gdLst/>
              <a:ahLst/>
              <a:cxnLst/>
              <a:rect l="l" t="t" r="r" b="b"/>
              <a:pathLst>
                <a:path w="6721983" h="2803144">
                  <a:moveTo>
                    <a:pt x="0" y="182880"/>
                  </a:moveTo>
                  <a:cubicBezTo>
                    <a:pt x="0" y="81915"/>
                    <a:pt x="82550" y="0"/>
                    <a:pt x="184277" y="0"/>
                  </a:cubicBezTo>
                  <a:lnTo>
                    <a:pt x="6537706" y="0"/>
                  </a:lnTo>
                  <a:cubicBezTo>
                    <a:pt x="6639561" y="0"/>
                    <a:pt x="6721983" y="81915"/>
                    <a:pt x="6721983" y="182880"/>
                  </a:cubicBezTo>
                  <a:lnTo>
                    <a:pt x="6721983" y="2620264"/>
                  </a:lnTo>
                  <a:cubicBezTo>
                    <a:pt x="6721983" y="2721229"/>
                    <a:pt x="6639433" y="2803144"/>
                    <a:pt x="6537706" y="2803144"/>
                  </a:cubicBezTo>
                  <a:lnTo>
                    <a:pt x="184277" y="2803144"/>
                  </a:lnTo>
                  <a:cubicBezTo>
                    <a:pt x="82423" y="2803144"/>
                    <a:pt x="0" y="2721229"/>
                    <a:pt x="0" y="2620264"/>
                  </a:cubicBez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760083" cy="2841244"/>
            </a:xfrm>
            <a:custGeom>
              <a:avLst/>
              <a:gdLst/>
              <a:ahLst/>
              <a:cxnLst/>
              <a:rect l="l" t="t" r="r" b="b"/>
              <a:pathLst>
                <a:path w="6760083" h="2841244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6556756" y="0"/>
                  </a:lnTo>
                  <a:lnTo>
                    <a:pt x="6556756" y="19050"/>
                  </a:lnTo>
                  <a:lnTo>
                    <a:pt x="6556756" y="0"/>
                  </a:lnTo>
                  <a:cubicBezTo>
                    <a:pt x="6668898" y="0"/>
                    <a:pt x="6760083" y="90297"/>
                    <a:pt x="6760083" y="201930"/>
                  </a:cubicBezTo>
                  <a:lnTo>
                    <a:pt x="6741033" y="201930"/>
                  </a:lnTo>
                  <a:lnTo>
                    <a:pt x="6760083" y="201930"/>
                  </a:lnTo>
                  <a:lnTo>
                    <a:pt x="6760083" y="2639314"/>
                  </a:lnTo>
                  <a:lnTo>
                    <a:pt x="6741033" y="2639314"/>
                  </a:lnTo>
                  <a:lnTo>
                    <a:pt x="6760083" y="2639314"/>
                  </a:lnTo>
                  <a:cubicBezTo>
                    <a:pt x="6760083" y="2750947"/>
                    <a:pt x="6668898" y="2841244"/>
                    <a:pt x="6556756" y="2841244"/>
                  </a:cubicBezTo>
                  <a:lnTo>
                    <a:pt x="6556756" y="2822194"/>
                  </a:lnTo>
                  <a:lnTo>
                    <a:pt x="6556756" y="2841244"/>
                  </a:lnTo>
                  <a:lnTo>
                    <a:pt x="203327" y="2841244"/>
                  </a:lnTo>
                  <a:lnTo>
                    <a:pt x="203327" y="2822194"/>
                  </a:lnTo>
                  <a:lnTo>
                    <a:pt x="203327" y="2841244"/>
                  </a:lnTo>
                  <a:cubicBezTo>
                    <a:pt x="91186" y="2841244"/>
                    <a:pt x="0" y="2750947"/>
                    <a:pt x="0" y="263931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639314"/>
                  </a:lnTo>
                  <a:lnTo>
                    <a:pt x="19050" y="2639314"/>
                  </a:lnTo>
                  <a:lnTo>
                    <a:pt x="38100" y="2639314"/>
                  </a:lnTo>
                  <a:cubicBezTo>
                    <a:pt x="38100" y="2729611"/>
                    <a:pt x="112014" y="2803144"/>
                    <a:pt x="203327" y="2803144"/>
                  </a:cubicBezTo>
                  <a:lnTo>
                    <a:pt x="6556756" y="2803144"/>
                  </a:lnTo>
                  <a:cubicBezTo>
                    <a:pt x="6648197" y="2803144"/>
                    <a:pt x="6721983" y="2729611"/>
                    <a:pt x="6721983" y="2639314"/>
                  </a:cubicBezTo>
                  <a:lnTo>
                    <a:pt x="6721983" y="201930"/>
                  </a:lnTo>
                  <a:cubicBezTo>
                    <a:pt x="6721983" y="111633"/>
                    <a:pt x="6648069" y="38100"/>
                    <a:pt x="6556756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25583" y="2981173"/>
            <a:ext cx="114300" cy="2102348"/>
            <a:chOff x="0" y="0"/>
            <a:chExt cx="152400" cy="28031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2803144"/>
            </a:xfrm>
            <a:custGeom>
              <a:avLst/>
              <a:gdLst/>
              <a:ahLst/>
              <a:cxnLst/>
              <a:rect l="l" t="t" r="r" b="b"/>
              <a:pathLst>
                <a:path w="152400" h="280314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2755392"/>
                  </a:lnTo>
                  <a:cubicBezTo>
                    <a:pt x="152400" y="2781681"/>
                    <a:pt x="131064" y="2803144"/>
                    <a:pt x="104648" y="2803144"/>
                  </a:cubicBezTo>
                  <a:lnTo>
                    <a:pt x="47752" y="2803144"/>
                  </a:lnTo>
                  <a:cubicBezTo>
                    <a:pt x="21463" y="2803144"/>
                    <a:pt x="0" y="2781808"/>
                    <a:pt x="0" y="2755392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206878" y="3219602"/>
            <a:ext cx="3092501" cy="33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Feature Engineering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06878" y="3722046"/>
            <a:ext cx="4421829" cy="100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Lag features, rolling averages, and technical indicators (RSI, MACD) extracted as predictors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839870" y="5259143"/>
            <a:ext cx="5070129" cy="2130923"/>
            <a:chOff x="0" y="0"/>
            <a:chExt cx="6760172" cy="2841231"/>
          </a:xfrm>
        </p:grpSpPr>
        <p:sp>
          <p:nvSpPr>
            <p:cNvPr id="27" name="Freeform 27"/>
            <p:cNvSpPr/>
            <p:nvPr/>
          </p:nvSpPr>
          <p:spPr>
            <a:xfrm>
              <a:off x="19050" y="19050"/>
              <a:ext cx="6721983" cy="2803144"/>
            </a:xfrm>
            <a:custGeom>
              <a:avLst/>
              <a:gdLst/>
              <a:ahLst/>
              <a:cxnLst/>
              <a:rect l="l" t="t" r="r" b="b"/>
              <a:pathLst>
                <a:path w="6721983" h="2803144">
                  <a:moveTo>
                    <a:pt x="0" y="182880"/>
                  </a:moveTo>
                  <a:cubicBezTo>
                    <a:pt x="0" y="81915"/>
                    <a:pt x="82550" y="0"/>
                    <a:pt x="184277" y="0"/>
                  </a:cubicBezTo>
                  <a:lnTo>
                    <a:pt x="6537706" y="0"/>
                  </a:lnTo>
                  <a:cubicBezTo>
                    <a:pt x="6639561" y="0"/>
                    <a:pt x="6721983" y="81915"/>
                    <a:pt x="6721983" y="182880"/>
                  </a:cubicBezTo>
                  <a:lnTo>
                    <a:pt x="6721983" y="2620264"/>
                  </a:lnTo>
                  <a:cubicBezTo>
                    <a:pt x="6721983" y="2721229"/>
                    <a:pt x="6639433" y="2803144"/>
                    <a:pt x="6537706" y="2803144"/>
                  </a:cubicBezTo>
                  <a:lnTo>
                    <a:pt x="184277" y="2803144"/>
                  </a:lnTo>
                  <a:cubicBezTo>
                    <a:pt x="82423" y="2803144"/>
                    <a:pt x="0" y="2721229"/>
                    <a:pt x="0" y="2620264"/>
                  </a:cubicBez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760083" cy="2841244"/>
            </a:xfrm>
            <a:custGeom>
              <a:avLst/>
              <a:gdLst/>
              <a:ahLst/>
              <a:cxnLst/>
              <a:rect l="l" t="t" r="r" b="b"/>
              <a:pathLst>
                <a:path w="6760083" h="2841244">
                  <a:moveTo>
                    <a:pt x="0" y="201930"/>
                  </a:moveTo>
                  <a:cubicBezTo>
                    <a:pt x="0" y="90297"/>
                    <a:pt x="91186" y="0"/>
                    <a:pt x="203327" y="0"/>
                  </a:cubicBezTo>
                  <a:lnTo>
                    <a:pt x="6556756" y="0"/>
                  </a:lnTo>
                  <a:lnTo>
                    <a:pt x="6556756" y="19050"/>
                  </a:lnTo>
                  <a:lnTo>
                    <a:pt x="6556756" y="0"/>
                  </a:lnTo>
                  <a:cubicBezTo>
                    <a:pt x="6668898" y="0"/>
                    <a:pt x="6760083" y="90297"/>
                    <a:pt x="6760083" y="201930"/>
                  </a:cubicBezTo>
                  <a:lnTo>
                    <a:pt x="6741033" y="201930"/>
                  </a:lnTo>
                  <a:lnTo>
                    <a:pt x="6760083" y="201930"/>
                  </a:lnTo>
                  <a:lnTo>
                    <a:pt x="6760083" y="2639314"/>
                  </a:lnTo>
                  <a:lnTo>
                    <a:pt x="6741033" y="2639314"/>
                  </a:lnTo>
                  <a:lnTo>
                    <a:pt x="6760083" y="2639314"/>
                  </a:lnTo>
                  <a:cubicBezTo>
                    <a:pt x="6760083" y="2750947"/>
                    <a:pt x="6668898" y="2841244"/>
                    <a:pt x="6556756" y="2841244"/>
                  </a:cubicBezTo>
                  <a:lnTo>
                    <a:pt x="6556756" y="2822194"/>
                  </a:lnTo>
                  <a:lnTo>
                    <a:pt x="6556756" y="2841244"/>
                  </a:lnTo>
                  <a:lnTo>
                    <a:pt x="203327" y="2841244"/>
                  </a:lnTo>
                  <a:lnTo>
                    <a:pt x="203327" y="2822194"/>
                  </a:lnTo>
                  <a:lnTo>
                    <a:pt x="203327" y="2841244"/>
                  </a:lnTo>
                  <a:cubicBezTo>
                    <a:pt x="91186" y="2841244"/>
                    <a:pt x="0" y="2750947"/>
                    <a:pt x="0" y="263931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639314"/>
                  </a:lnTo>
                  <a:lnTo>
                    <a:pt x="19050" y="2639314"/>
                  </a:lnTo>
                  <a:lnTo>
                    <a:pt x="38100" y="2639314"/>
                  </a:lnTo>
                  <a:cubicBezTo>
                    <a:pt x="38100" y="2729611"/>
                    <a:pt x="112014" y="2803144"/>
                    <a:pt x="203327" y="2803144"/>
                  </a:cubicBezTo>
                  <a:lnTo>
                    <a:pt x="6556756" y="2803144"/>
                  </a:lnTo>
                  <a:cubicBezTo>
                    <a:pt x="6648197" y="2803144"/>
                    <a:pt x="6721983" y="2729611"/>
                    <a:pt x="6721983" y="2639314"/>
                  </a:cubicBezTo>
                  <a:lnTo>
                    <a:pt x="6721983" y="201930"/>
                  </a:lnTo>
                  <a:cubicBezTo>
                    <a:pt x="6721983" y="111633"/>
                    <a:pt x="6648069" y="38100"/>
                    <a:pt x="6556756" y="38100"/>
                  </a:cubicBezTo>
                  <a:lnTo>
                    <a:pt x="203327" y="38100"/>
                  </a:lnTo>
                  <a:lnTo>
                    <a:pt x="203327" y="19050"/>
                  </a:lnTo>
                  <a:lnTo>
                    <a:pt x="203327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825583" y="5273431"/>
            <a:ext cx="114300" cy="2102348"/>
            <a:chOff x="0" y="0"/>
            <a:chExt cx="152400" cy="280313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400" cy="2803144"/>
            </a:xfrm>
            <a:custGeom>
              <a:avLst/>
              <a:gdLst/>
              <a:ahLst/>
              <a:cxnLst/>
              <a:rect l="l" t="t" r="r" b="b"/>
              <a:pathLst>
                <a:path w="152400" h="280314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2755392"/>
                  </a:lnTo>
                  <a:cubicBezTo>
                    <a:pt x="152400" y="2781681"/>
                    <a:pt x="131064" y="2803144"/>
                    <a:pt x="104648" y="2803144"/>
                  </a:cubicBezTo>
                  <a:lnTo>
                    <a:pt x="47752" y="2803144"/>
                  </a:lnTo>
                  <a:cubicBezTo>
                    <a:pt x="21463" y="2803144"/>
                    <a:pt x="0" y="2781808"/>
                    <a:pt x="0" y="2755392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206878" y="5511851"/>
            <a:ext cx="3673526" cy="33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Hyperparameter Tuning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06878" y="6014295"/>
            <a:ext cx="4421829" cy="100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GridSearchCV used to optimize learning rate, max depth, and number of estimators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839870" y="7551391"/>
            <a:ext cx="5070129" cy="1788319"/>
            <a:chOff x="0" y="0"/>
            <a:chExt cx="6760172" cy="2384425"/>
          </a:xfrm>
        </p:grpSpPr>
        <p:sp>
          <p:nvSpPr>
            <p:cNvPr id="34" name="Freeform 34"/>
            <p:cNvSpPr/>
            <p:nvPr/>
          </p:nvSpPr>
          <p:spPr>
            <a:xfrm>
              <a:off x="19050" y="19050"/>
              <a:ext cx="6722110" cy="2346325"/>
            </a:xfrm>
            <a:custGeom>
              <a:avLst/>
              <a:gdLst/>
              <a:ahLst/>
              <a:cxnLst/>
              <a:rect l="l" t="t" r="r" b="b"/>
              <a:pathLst>
                <a:path w="6722110" h="2346325">
                  <a:moveTo>
                    <a:pt x="0" y="182880"/>
                  </a:moveTo>
                  <a:cubicBezTo>
                    <a:pt x="0" y="81915"/>
                    <a:pt x="82677" y="0"/>
                    <a:pt x="184785" y="0"/>
                  </a:cubicBezTo>
                  <a:lnTo>
                    <a:pt x="6537325" y="0"/>
                  </a:lnTo>
                  <a:cubicBezTo>
                    <a:pt x="6639433" y="0"/>
                    <a:pt x="6722110" y="81915"/>
                    <a:pt x="6722110" y="182880"/>
                  </a:cubicBezTo>
                  <a:lnTo>
                    <a:pt x="6722110" y="2163445"/>
                  </a:lnTo>
                  <a:cubicBezTo>
                    <a:pt x="6722110" y="2264410"/>
                    <a:pt x="6639433" y="2346325"/>
                    <a:pt x="6537325" y="2346325"/>
                  </a:cubicBezTo>
                  <a:lnTo>
                    <a:pt x="184785" y="2346325"/>
                  </a:lnTo>
                  <a:cubicBezTo>
                    <a:pt x="82677" y="2346325"/>
                    <a:pt x="0" y="2264410"/>
                    <a:pt x="0" y="2163445"/>
                  </a:cubicBez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760210" cy="2384425"/>
            </a:xfrm>
            <a:custGeom>
              <a:avLst/>
              <a:gdLst/>
              <a:ahLst/>
              <a:cxnLst/>
              <a:rect l="l" t="t" r="r" b="b"/>
              <a:pathLst>
                <a:path w="6760210" h="2384425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6556375" y="0"/>
                  </a:lnTo>
                  <a:lnTo>
                    <a:pt x="6556375" y="19050"/>
                  </a:lnTo>
                  <a:lnTo>
                    <a:pt x="6556375" y="0"/>
                  </a:lnTo>
                  <a:cubicBezTo>
                    <a:pt x="6668770" y="0"/>
                    <a:pt x="6760210" y="90170"/>
                    <a:pt x="6760210" y="201930"/>
                  </a:cubicBezTo>
                  <a:lnTo>
                    <a:pt x="6741160" y="201930"/>
                  </a:lnTo>
                  <a:lnTo>
                    <a:pt x="6760210" y="201930"/>
                  </a:lnTo>
                  <a:lnTo>
                    <a:pt x="6760210" y="2182495"/>
                  </a:lnTo>
                  <a:lnTo>
                    <a:pt x="6741160" y="2182495"/>
                  </a:lnTo>
                  <a:lnTo>
                    <a:pt x="6760210" y="2182495"/>
                  </a:lnTo>
                  <a:cubicBezTo>
                    <a:pt x="6760210" y="2294255"/>
                    <a:pt x="6668770" y="2384425"/>
                    <a:pt x="6556375" y="2384425"/>
                  </a:cubicBezTo>
                  <a:lnTo>
                    <a:pt x="6556375" y="2365375"/>
                  </a:lnTo>
                  <a:lnTo>
                    <a:pt x="6556375" y="2384425"/>
                  </a:lnTo>
                  <a:lnTo>
                    <a:pt x="203835" y="2384425"/>
                  </a:lnTo>
                  <a:lnTo>
                    <a:pt x="203835" y="2365375"/>
                  </a:lnTo>
                  <a:lnTo>
                    <a:pt x="203835" y="2384425"/>
                  </a:lnTo>
                  <a:cubicBezTo>
                    <a:pt x="91440" y="2384425"/>
                    <a:pt x="0" y="2294255"/>
                    <a:pt x="0" y="21824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82495"/>
                  </a:lnTo>
                  <a:lnTo>
                    <a:pt x="19050" y="2182495"/>
                  </a:lnTo>
                  <a:lnTo>
                    <a:pt x="38100" y="2182495"/>
                  </a:lnTo>
                  <a:cubicBezTo>
                    <a:pt x="38100" y="2272792"/>
                    <a:pt x="112141" y="2346325"/>
                    <a:pt x="203835" y="2346325"/>
                  </a:cubicBezTo>
                  <a:lnTo>
                    <a:pt x="6556375" y="2346325"/>
                  </a:lnTo>
                  <a:cubicBezTo>
                    <a:pt x="6648069" y="2346325"/>
                    <a:pt x="6722110" y="2272792"/>
                    <a:pt x="6722110" y="2182495"/>
                  </a:cubicBezTo>
                  <a:lnTo>
                    <a:pt x="6722110" y="201930"/>
                  </a:lnTo>
                  <a:cubicBezTo>
                    <a:pt x="6722110" y="111633"/>
                    <a:pt x="6648069" y="38100"/>
                    <a:pt x="6556375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442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825583" y="7565679"/>
            <a:ext cx="114300" cy="1759744"/>
            <a:chOff x="0" y="0"/>
            <a:chExt cx="152400" cy="234632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400" cy="2346325"/>
            </a:xfrm>
            <a:custGeom>
              <a:avLst/>
              <a:gdLst/>
              <a:ahLst/>
              <a:cxnLst/>
              <a:rect l="l" t="t" r="r" b="b"/>
              <a:pathLst>
                <a:path w="152400" h="2346325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2298573"/>
                  </a:lnTo>
                  <a:cubicBezTo>
                    <a:pt x="152400" y="2324862"/>
                    <a:pt x="131064" y="2346325"/>
                    <a:pt x="104648" y="2346325"/>
                  </a:cubicBezTo>
                  <a:lnTo>
                    <a:pt x="47752" y="2346325"/>
                  </a:lnTo>
                  <a:cubicBezTo>
                    <a:pt x="21463" y="2346325"/>
                    <a:pt x="0" y="2324989"/>
                    <a:pt x="0" y="2298573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206878" y="7804099"/>
            <a:ext cx="3469329" cy="33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Outstanding Accuracy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06878" y="8306543"/>
            <a:ext cx="4421829" cy="66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Average R² of </a:t>
            </a:r>
            <a:r>
              <a:rPr lang="en-US" sz="1874" b="1" dirty="0">
                <a:solidFill>
                  <a:srgbClr val="806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0.97</a:t>
            </a:r>
            <a:r>
              <a:rPr lang="en-US" sz="1874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— highest among all evaluated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48950" y="510838"/>
            <a:ext cx="3020073" cy="417014"/>
            <a:chOff x="0" y="0"/>
            <a:chExt cx="4026764" cy="5560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26632" cy="556006"/>
            </a:xfrm>
            <a:custGeom>
              <a:avLst/>
              <a:gdLst/>
              <a:ahLst/>
              <a:cxnLst/>
              <a:rect l="l" t="t" r="r" b="b"/>
              <a:pathLst>
                <a:path w="4026632" h="556006">
                  <a:moveTo>
                    <a:pt x="0" y="38100"/>
                  </a:moveTo>
                  <a:cubicBezTo>
                    <a:pt x="0" y="17018"/>
                    <a:pt x="22052" y="0"/>
                    <a:pt x="49370" y="0"/>
                  </a:cubicBezTo>
                  <a:lnTo>
                    <a:pt x="3977261" y="0"/>
                  </a:lnTo>
                  <a:cubicBezTo>
                    <a:pt x="4004580" y="0"/>
                    <a:pt x="4026632" y="17018"/>
                    <a:pt x="4026632" y="38100"/>
                  </a:cubicBezTo>
                  <a:lnTo>
                    <a:pt x="4026632" y="517906"/>
                  </a:lnTo>
                  <a:cubicBezTo>
                    <a:pt x="4026632" y="538988"/>
                    <a:pt x="4004580" y="556006"/>
                    <a:pt x="3977261" y="556006"/>
                  </a:cubicBezTo>
                  <a:lnTo>
                    <a:pt x="49370" y="556006"/>
                  </a:lnTo>
                  <a:cubicBezTo>
                    <a:pt x="22052" y="556006"/>
                    <a:pt x="0" y="538988"/>
                    <a:pt x="0" y="517906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0459" y="559008"/>
            <a:ext cx="2877055" cy="2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MODELS — LSTM &amp; XGBOOST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241" y="1241510"/>
            <a:ext cx="9412438" cy="656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Our Implementation Highlights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BBECB5-1C47-D043-555C-2C2953F1C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448168"/>
            <a:ext cx="8686800" cy="26214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F5A790-2EDB-E05D-BCFA-2E8938C7B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41" y="2628900"/>
            <a:ext cx="6980359" cy="241285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05AAFA3-FE3C-B92F-24D0-A210F79BF86C}"/>
              </a:ext>
            </a:extLst>
          </p:cNvPr>
          <p:cNvGrpSpPr/>
          <p:nvPr/>
        </p:nvGrpSpPr>
        <p:grpSpPr>
          <a:xfrm>
            <a:off x="160117" y="5619512"/>
            <a:ext cx="8755283" cy="3901990"/>
            <a:chOff x="152400" y="5006136"/>
            <a:chExt cx="8850024" cy="390199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69988A2-1317-61BF-40E9-1C49F23A1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" y="5006136"/>
              <a:ext cx="8850024" cy="390199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349634" y="5239896"/>
              <a:ext cx="3395662" cy="333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187" b="1" dirty="0">
                  <a:solidFill>
                    <a:srgbClr val="FFFFFF"/>
                  </a:solidFill>
                  <a:latin typeface="Arial" panose="020B0604020202020204" pitchFamily="34" charset="0"/>
                  <a:ea typeface="Arimo Bold"/>
                  <a:cs typeface="Arial" panose="020B0604020202020204" pitchFamily="34" charset="0"/>
                  <a:sym typeface="Arimo Bold"/>
                </a:rPr>
                <a:t>XGBoost Implementation 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390751-F102-D91B-C51A-8893467F0FA2}"/>
              </a:ext>
            </a:extLst>
          </p:cNvPr>
          <p:cNvGrpSpPr/>
          <p:nvPr/>
        </p:nvGrpSpPr>
        <p:grpSpPr>
          <a:xfrm>
            <a:off x="9089443" y="5619512"/>
            <a:ext cx="9050015" cy="3889309"/>
            <a:chOff x="9144000" y="5018817"/>
            <a:chExt cx="9050015" cy="388930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7153481-F14B-7F94-A698-F0457E32E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44000" y="5018817"/>
              <a:ext cx="9050015" cy="3889309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9372600" y="5239896"/>
              <a:ext cx="2963391" cy="333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0"/>
                </a:lnSpc>
              </a:pPr>
              <a:r>
                <a:rPr lang="en-US" sz="2187" b="1" dirty="0">
                  <a:solidFill>
                    <a:srgbClr val="FFFFFF"/>
                  </a:solidFill>
                  <a:latin typeface="Arial" panose="020B0604020202020204" pitchFamily="34" charset="0"/>
                  <a:ea typeface="Arimo Bold"/>
                  <a:cs typeface="Arial" panose="020B0604020202020204" pitchFamily="34" charset="0"/>
                  <a:sym typeface="Arimo Bold"/>
                </a:rPr>
                <a:t>LSTM Implementation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70451" y="346683"/>
            <a:ext cx="1043283" cy="383819"/>
            <a:chOff x="0" y="0"/>
            <a:chExt cx="1203122" cy="4083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3198" cy="408432"/>
            </a:xfrm>
            <a:custGeom>
              <a:avLst/>
              <a:gdLst/>
              <a:ahLst/>
              <a:cxnLst/>
              <a:rect l="l" t="t" r="r" b="b"/>
              <a:pathLst>
                <a:path w="1203198" h="408432">
                  <a:moveTo>
                    <a:pt x="0" y="29972"/>
                  </a:moveTo>
                  <a:cubicBezTo>
                    <a:pt x="0" y="13335"/>
                    <a:pt x="13335" y="0"/>
                    <a:pt x="29972" y="0"/>
                  </a:cubicBezTo>
                  <a:lnTo>
                    <a:pt x="1173226" y="0"/>
                  </a:lnTo>
                  <a:cubicBezTo>
                    <a:pt x="1189736" y="0"/>
                    <a:pt x="1203198" y="13335"/>
                    <a:pt x="1203198" y="29972"/>
                  </a:cubicBezTo>
                  <a:lnTo>
                    <a:pt x="1203198" y="378460"/>
                  </a:lnTo>
                  <a:cubicBezTo>
                    <a:pt x="1203198" y="394970"/>
                    <a:pt x="1189863" y="408432"/>
                    <a:pt x="1173226" y="408432"/>
                  </a:cubicBezTo>
                  <a:lnTo>
                    <a:pt x="29972" y="408432"/>
                  </a:lnTo>
                  <a:cubicBezTo>
                    <a:pt x="13335" y="408432"/>
                    <a:pt x="0" y="394970"/>
                    <a:pt x="0" y="378460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99120" y="444170"/>
            <a:ext cx="1159821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1517" y="928535"/>
            <a:ext cx="4504582" cy="513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Evaluation Metrics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71517" y="1534868"/>
            <a:ext cx="3934416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RMSE — Root Mean Square Error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71517" y="1994592"/>
            <a:ext cx="12144966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Measures the average magnitude of prediction errors. Penalizes large deviations heavily.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071517" y="2404615"/>
            <a:ext cx="12144966" cy="803519"/>
            <a:chOff x="0" y="0"/>
            <a:chExt cx="16193287" cy="107135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6193263" cy="1071372"/>
            </a:xfrm>
            <a:custGeom>
              <a:avLst/>
              <a:gdLst/>
              <a:ahLst/>
              <a:cxnLst/>
              <a:rect l="l" t="t" r="r" b="b"/>
              <a:pathLst>
                <a:path w="16193263" h="1071372">
                  <a:moveTo>
                    <a:pt x="0" y="0"/>
                  </a:moveTo>
                  <a:lnTo>
                    <a:pt x="16193263" y="0"/>
                  </a:lnTo>
                  <a:lnTo>
                    <a:pt x="16193263" y="1071372"/>
                  </a:lnTo>
                  <a:lnTo>
                    <a:pt x="0" y="1071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42" b="-3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071517" y="3355924"/>
            <a:ext cx="12144966" cy="605285"/>
            <a:chOff x="0" y="0"/>
            <a:chExt cx="16193287" cy="80704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93388" cy="807085"/>
            </a:xfrm>
            <a:custGeom>
              <a:avLst/>
              <a:gdLst/>
              <a:ahLst/>
              <a:cxnLst/>
              <a:rect l="l" t="t" r="r" b="b"/>
              <a:pathLst>
                <a:path w="16193388" h="807085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16155924" y="0"/>
                  </a:lnTo>
                  <a:cubicBezTo>
                    <a:pt x="16176625" y="0"/>
                    <a:pt x="16193388" y="16764"/>
                    <a:pt x="16193388" y="37465"/>
                  </a:cubicBezTo>
                  <a:lnTo>
                    <a:pt x="16193388" y="769620"/>
                  </a:lnTo>
                  <a:cubicBezTo>
                    <a:pt x="16193388" y="790321"/>
                    <a:pt x="16176625" y="807085"/>
                    <a:pt x="16155924" y="807085"/>
                  </a:cubicBezTo>
                  <a:lnTo>
                    <a:pt x="37465" y="807085"/>
                  </a:lnTo>
                  <a:cubicBezTo>
                    <a:pt x="16764" y="807085"/>
                    <a:pt x="0" y="790321"/>
                    <a:pt x="0" y="769620"/>
                  </a:cubicBezTo>
                  <a:close/>
                </a:path>
              </a:pathLst>
            </a:custGeom>
            <a:solidFill>
              <a:srgbClr val="02234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58445" y="3607003"/>
            <a:ext cx="233658" cy="186928"/>
            <a:chOff x="0" y="0"/>
            <a:chExt cx="311544" cy="249238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11531" cy="249301"/>
            </a:xfrm>
            <a:custGeom>
              <a:avLst/>
              <a:gdLst/>
              <a:ahLst/>
              <a:cxnLst/>
              <a:rect l="l" t="t" r="r" b="b"/>
              <a:pathLst>
                <a:path w="311531" h="249301">
                  <a:moveTo>
                    <a:pt x="0" y="0"/>
                  </a:moveTo>
                  <a:lnTo>
                    <a:pt x="311531" y="0"/>
                  </a:lnTo>
                  <a:lnTo>
                    <a:pt x="311531" y="249301"/>
                  </a:lnTo>
                  <a:lnTo>
                    <a:pt x="0" y="249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679031" y="3500438"/>
            <a:ext cx="11350523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Lower RMSE</a:t>
            </a:r>
            <a:r>
              <a:rPr lang="en-US" sz="1437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→ More accurate predictions, smaller error margin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71517" y="4107952"/>
            <a:ext cx="4012854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R² — Coefficient of Determination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71517" y="4567685"/>
            <a:ext cx="12144966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Measures how well the model explains variance in the actual stock prices.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071517" y="4977708"/>
            <a:ext cx="12144966" cy="617782"/>
            <a:chOff x="0" y="0"/>
            <a:chExt cx="16193287" cy="823709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6193263" cy="823722"/>
            </a:xfrm>
            <a:custGeom>
              <a:avLst/>
              <a:gdLst/>
              <a:ahLst/>
              <a:cxnLst/>
              <a:rect l="l" t="t" r="r" b="b"/>
              <a:pathLst>
                <a:path w="16193263" h="823722">
                  <a:moveTo>
                    <a:pt x="0" y="0"/>
                  </a:moveTo>
                  <a:lnTo>
                    <a:pt x="16193263" y="0"/>
                  </a:lnTo>
                  <a:lnTo>
                    <a:pt x="16193263" y="823722"/>
                  </a:lnTo>
                  <a:lnTo>
                    <a:pt x="0" y="823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0" b="-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071517" y="5743280"/>
            <a:ext cx="12144966" cy="605285"/>
            <a:chOff x="0" y="0"/>
            <a:chExt cx="16193287" cy="80704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193388" cy="807085"/>
            </a:xfrm>
            <a:custGeom>
              <a:avLst/>
              <a:gdLst/>
              <a:ahLst/>
              <a:cxnLst/>
              <a:rect l="l" t="t" r="r" b="b"/>
              <a:pathLst>
                <a:path w="16193388" h="807085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16155924" y="0"/>
                  </a:lnTo>
                  <a:cubicBezTo>
                    <a:pt x="16176625" y="0"/>
                    <a:pt x="16193388" y="16764"/>
                    <a:pt x="16193388" y="37465"/>
                  </a:cubicBezTo>
                  <a:lnTo>
                    <a:pt x="16193388" y="769620"/>
                  </a:lnTo>
                  <a:cubicBezTo>
                    <a:pt x="16193388" y="790321"/>
                    <a:pt x="16176625" y="807085"/>
                    <a:pt x="16155924" y="807085"/>
                  </a:cubicBezTo>
                  <a:lnTo>
                    <a:pt x="37465" y="807085"/>
                  </a:lnTo>
                  <a:cubicBezTo>
                    <a:pt x="16764" y="807085"/>
                    <a:pt x="0" y="790321"/>
                    <a:pt x="0" y="769620"/>
                  </a:cubicBezTo>
                  <a:close/>
                </a:path>
              </a:pathLst>
            </a:custGeom>
            <a:solidFill>
              <a:srgbClr val="183A1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258445" y="5994349"/>
            <a:ext cx="233658" cy="186928"/>
            <a:chOff x="0" y="0"/>
            <a:chExt cx="311544" cy="249238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311531" cy="249301"/>
            </a:xfrm>
            <a:custGeom>
              <a:avLst/>
              <a:gdLst/>
              <a:ahLst/>
              <a:cxnLst/>
              <a:rect l="l" t="t" r="r" b="b"/>
              <a:pathLst>
                <a:path w="311531" h="249301">
                  <a:moveTo>
                    <a:pt x="0" y="0"/>
                  </a:moveTo>
                  <a:lnTo>
                    <a:pt x="311531" y="0"/>
                  </a:lnTo>
                  <a:lnTo>
                    <a:pt x="311531" y="249301"/>
                  </a:lnTo>
                  <a:lnTo>
                    <a:pt x="0" y="249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" b="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679031" y="5887793"/>
            <a:ext cx="11350523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Higher R²</a:t>
            </a:r>
            <a:r>
              <a:rPr lang="en-US" sz="1437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→ Model captures more variance; R² = 1 is a perfect fit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71517" y="6640116"/>
            <a:ext cx="599940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0.97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71155" y="7343032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XGBoost R²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71517" y="7697543"/>
            <a:ext cx="5999407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Average across 12 Indian stocks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16923" y="6640116"/>
            <a:ext cx="599955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0.85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16570" y="7343032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LSTM R²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16923" y="7697543"/>
            <a:ext cx="5999559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Average across 12 Indian stocks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71517" y="8353577"/>
            <a:ext cx="599940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23.11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71155" y="9056484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XGBoost RMSE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71517" y="9410995"/>
            <a:ext cx="5999407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Average prediction error (₹)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16923" y="8353577"/>
            <a:ext cx="599955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22.55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6570" y="9056484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LSTM RMSE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16923" y="9410995"/>
            <a:ext cx="5999559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Average prediction error (₹)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5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62618" y="6524029"/>
            <a:ext cx="6897843" cy="482908"/>
            <a:chOff x="0" y="0"/>
            <a:chExt cx="9197124" cy="6438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97086" cy="643890"/>
            </a:xfrm>
            <a:custGeom>
              <a:avLst/>
              <a:gdLst/>
              <a:ahLst/>
              <a:cxnLst/>
              <a:rect l="l" t="t" r="r" b="b"/>
              <a:pathLst>
                <a:path w="9197086" h="643890">
                  <a:moveTo>
                    <a:pt x="0" y="29845"/>
                  </a:moveTo>
                  <a:cubicBezTo>
                    <a:pt x="0" y="13335"/>
                    <a:pt x="13335" y="0"/>
                    <a:pt x="29845" y="0"/>
                  </a:cubicBezTo>
                  <a:lnTo>
                    <a:pt x="9167241" y="0"/>
                  </a:lnTo>
                  <a:cubicBezTo>
                    <a:pt x="9183751" y="0"/>
                    <a:pt x="9197086" y="13335"/>
                    <a:pt x="9197086" y="29845"/>
                  </a:cubicBezTo>
                  <a:lnTo>
                    <a:pt x="9197086" y="614045"/>
                  </a:lnTo>
                  <a:cubicBezTo>
                    <a:pt x="9197086" y="630555"/>
                    <a:pt x="9183751" y="643890"/>
                    <a:pt x="9167241" y="643890"/>
                  </a:cubicBezTo>
                  <a:lnTo>
                    <a:pt x="29845" y="643890"/>
                  </a:lnTo>
                  <a:cubicBezTo>
                    <a:pt x="13335" y="643890"/>
                    <a:pt x="0" y="630555"/>
                    <a:pt x="0" y="614045"/>
                  </a:cubicBezTo>
                  <a:close/>
                </a:path>
              </a:pathLst>
            </a:custGeom>
            <a:solidFill>
              <a:srgbClr val="183A1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804127" y="1046021"/>
            <a:ext cx="3934416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RMSE — Root Mean Square Error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176445" y="5953449"/>
            <a:ext cx="233658" cy="186928"/>
            <a:chOff x="0" y="0"/>
            <a:chExt cx="311544" cy="24923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311531" cy="249301"/>
            </a:xfrm>
            <a:custGeom>
              <a:avLst/>
              <a:gdLst/>
              <a:ahLst/>
              <a:cxnLst/>
              <a:rect l="l" t="t" r="r" b="b"/>
              <a:pathLst>
                <a:path w="311531" h="249301">
                  <a:moveTo>
                    <a:pt x="0" y="0"/>
                  </a:moveTo>
                  <a:lnTo>
                    <a:pt x="311531" y="0"/>
                  </a:lnTo>
                  <a:lnTo>
                    <a:pt x="311531" y="249301"/>
                  </a:lnTo>
                  <a:lnTo>
                    <a:pt x="0" y="249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648841" y="1046021"/>
            <a:ext cx="4012854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R² — Coefficient of Determination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90409" y="6522991"/>
            <a:ext cx="7575366" cy="482908"/>
            <a:chOff x="0" y="0"/>
            <a:chExt cx="10100488" cy="6438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00437" cy="643890"/>
            </a:xfrm>
            <a:custGeom>
              <a:avLst/>
              <a:gdLst/>
              <a:ahLst/>
              <a:cxnLst/>
              <a:rect l="l" t="t" r="r" b="b"/>
              <a:pathLst>
                <a:path w="10100437" h="643890">
                  <a:moveTo>
                    <a:pt x="0" y="29845"/>
                  </a:moveTo>
                  <a:cubicBezTo>
                    <a:pt x="0" y="13335"/>
                    <a:pt x="13335" y="0"/>
                    <a:pt x="29845" y="0"/>
                  </a:cubicBezTo>
                  <a:lnTo>
                    <a:pt x="10070592" y="0"/>
                  </a:lnTo>
                  <a:cubicBezTo>
                    <a:pt x="10087102" y="0"/>
                    <a:pt x="10100437" y="13335"/>
                    <a:pt x="10100437" y="29845"/>
                  </a:cubicBezTo>
                  <a:lnTo>
                    <a:pt x="10100437" y="614045"/>
                  </a:lnTo>
                  <a:cubicBezTo>
                    <a:pt x="10100437" y="630555"/>
                    <a:pt x="10087102" y="643890"/>
                    <a:pt x="10070592" y="643890"/>
                  </a:cubicBezTo>
                  <a:lnTo>
                    <a:pt x="29845" y="643890"/>
                  </a:lnTo>
                  <a:cubicBezTo>
                    <a:pt x="13335" y="643890"/>
                    <a:pt x="0" y="630555"/>
                    <a:pt x="0" y="614045"/>
                  </a:cubicBezTo>
                  <a:close/>
                </a:path>
              </a:pathLst>
            </a:custGeom>
            <a:solidFill>
              <a:srgbClr val="183A1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786420" y="6617450"/>
            <a:ext cx="11350523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Higher R²</a:t>
            </a:r>
            <a:r>
              <a:rPr lang="en-US" sz="1437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→ Model captures more variance; R² = 1 is a perfect fit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40070" y="7482863"/>
            <a:ext cx="599940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0.97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39636" y="8085976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XGBoost R²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46034" y="7465545"/>
            <a:ext cx="599955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23.11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39645" y="9313239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LSTM R²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67271" y="9707707"/>
            <a:ext cx="5999559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Average across 12 Indian stocks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39994" y="8692500"/>
            <a:ext cx="599940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0.85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65073" y="8093249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XGBoost RMSE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83457" y="9707707"/>
            <a:ext cx="5999407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Average prediction error (₹)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46048" y="8667390"/>
            <a:ext cx="599955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4812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22.55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45767" y="9295921"/>
            <a:ext cx="2200123" cy="25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LSTM RMSE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78542" y="6617450"/>
            <a:ext cx="11350523" cy="22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Lower RMSE</a:t>
            </a:r>
            <a:r>
              <a:rPr lang="en-US" sz="1437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→ More accurate predictions, smaller error margin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862627" y="1399798"/>
            <a:ext cx="6897843" cy="4896393"/>
            <a:chOff x="0" y="0"/>
            <a:chExt cx="9197124" cy="6528524"/>
          </a:xfrm>
        </p:grpSpPr>
        <p:sp>
          <p:nvSpPr>
            <p:cNvPr id="29" name="Freeform 29" descr="A graph of different colored lines  AI-generated content may be incorrect."/>
            <p:cNvSpPr/>
            <p:nvPr/>
          </p:nvSpPr>
          <p:spPr>
            <a:xfrm>
              <a:off x="0" y="0"/>
              <a:ext cx="9197086" cy="6528562"/>
            </a:xfrm>
            <a:custGeom>
              <a:avLst/>
              <a:gdLst/>
              <a:ahLst/>
              <a:cxnLst/>
              <a:rect l="l" t="t" r="r" b="b"/>
              <a:pathLst>
                <a:path w="9197086" h="6528562">
                  <a:moveTo>
                    <a:pt x="0" y="0"/>
                  </a:moveTo>
                  <a:lnTo>
                    <a:pt x="9197086" y="0"/>
                  </a:lnTo>
                  <a:lnTo>
                    <a:pt x="9197086" y="6528562"/>
                  </a:lnTo>
                  <a:lnTo>
                    <a:pt x="0" y="6528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90419" y="1435593"/>
            <a:ext cx="7575366" cy="4860922"/>
            <a:chOff x="0" y="0"/>
            <a:chExt cx="10100488" cy="6481229"/>
          </a:xfrm>
        </p:grpSpPr>
        <p:sp>
          <p:nvSpPr>
            <p:cNvPr id="31" name="Freeform 31" descr="A graph of different colored lines  AI-generated content may be incorrect."/>
            <p:cNvSpPr/>
            <p:nvPr/>
          </p:nvSpPr>
          <p:spPr>
            <a:xfrm>
              <a:off x="0" y="0"/>
              <a:ext cx="10100437" cy="6481191"/>
            </a:xfrm>
            <a:custGeom>
              <a:avLst/>
              <a:gdLst/>
              <a:ahLst/>
              <a:cxnLst/>
              <a:rect l="l" t="t" r="r" b="b"/>
              <a:pathLst>
                <a:path w="10100437" h="6481191">
                  <a:moveTo>
                    <a:pt x="0" y="0"/>
                  </a:moveTo>
                  <a:lnTo>
                    <a:pt x="10100437" y="0"/>
                  </a:lnTo>
                  <a:lnTo>
                    <a:pt x="10100437" y="6481191"/>
                  </a:lnTo>
                  <a:lnTo>
                    <a:pt x="0" y="6481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36" r="-15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76400" y="330031"/>
            <a:ext cx="1143000" cy="519270"/>
            <a:chOff x="0" y="0"/>
            <a:chExt cx="1203122" cy="40838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03198" cy="408432"/>
            </a:xfrm>
            <a:custGeom>
              <a:avLst/>
              <a:gdLst/>
              <a:ahLst/>
              <a:cxnLst/>
              <a:rect l="l" t="t" r="r" b="b"/>
              <a:pathLst>
                <a:path w="1203198" h="408432">
                  <a:moveTo>
                    <a:pt x="0" y="29972"/>
                  </a:moveTo>
                  <a:cubicBezTo>
                    <a:pt x="0" y="13335"/>
                    <a:pt x="13335" y="0"/>
                    <a:pt x="29972" y="0"/>
                  </a:cubicBezTo>
                  <a:lnTo>
                    <a:pt x="1173226" y="0"/>
                  </a:lnTo>
                  <a:cubicBezTo>
                    <a:pt x="1189736" y="0"/>
                    <a:pt x="1203198" y="13335"/>
                    <a:pt x="1203198" y="29972"/>
                  </a:cubicBezTo>
                  <a:lnTo>
                    <a:pt x="1203198" y="378460"/>
                  </a:lnTo>
                  <a:cubicBezTo>
                    <a:pt x="1203198" y="394970"/>
                    <a:pt x="1189863" y="408432"/>
                    <a:pt x="1173226" y="408432"/>
                  </a:cubicBezTo>
                  <a:lnTo>
                    <a:pt x="29972" y="408432"/>
                  </a:lnTo>
                  <a:cubicBezTo>
                    <a:pt x="13335" y="408432"/>
                    <a:pt x="0" y="394970"/>
                    <a:pt x="0" y="378460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823040" y="493410"/>
            <a:ext cx="2706810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73FA-4D66-3476-B1C1-7F3D5146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4FB946-B49D-FF1D-2E1C-423E0C394219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AD545A-6A5A-AF52-21F6-1C24C1A76FC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3D2DDF8-A1BA-ACF0-8719-43C8CABD72AF}"/>
              </a:ext>
            </a:extLst>
          </p:cNvPr>
          <p:cNvGrpSpPr/>
          <p:nvPr/>
        </p:nvGrpSpPr>
        <p:grpSpPr>
          <a:xfrm>
            <a:off x="-9525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2BE201E-2395-9257-26EA-068EEC0BCF2C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89952EC0-E66D-5312-0D43-2BE14A0B67D4}"/>
              </a:ext>
            </a:extLst>
          </p:cNvPr>
          <p:cNvGrpSpPr/>
          <p:nvPr/>
        </p:nvGrpSpPr>
        <p:grpSpPr>
          <a:xfrm>
            <a:off x="2133600" y="902318"/>
            <a:ext cx="1066800" cy="519270"/>
            <a:chOff x="0" y="0"/>
            <a:chExt cx="1203122" cy="408381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F3D98B50-B315-08E1-F6C6-6E00A3452BE1}"/>
                </a:ext>
              </a:extLst>
            </p:cNvPr>
            <p:cNvSpPr/>
            <p:nvPr/>
          </p:nvSpPr>
          <p:spPr>
            <a:xfrm>
              <a:off x="0" y="0"/>
              <a:ext cx="1203198" cy="408432"/>
            </a:xfrm>
            <a:custGeom>
              <a:avLst/>
              <a:gdLst/>
              <a:ahLst/>
              <a:cxnLst/>
              <a:rect l="l" t="t" r="r" b="b"/>
              <a:pathLst>
                <a:path w="1203198" h="408432">
                  <a:moveTo>
                    <a:pt x="0" y="29972"/>
                  </a:moveTo>
                  <a:cubicBezTo>
                    <a:pt x="0" y="13335"/>
                    <a:pt x="13335" y="0"/>
                    <a:pt x="29972" y="0"/>
                  </a:cubicBezTo>
                  <a:lnTo>
                    <a:pt x="1173226" y="0"/>
                  </a:lnTo>
                  <a:cubicBezTo>
                    <a:pt x="1189736" y="0"/>
                    <a:pt x="1203198" y="13335"/>
                    <a:pt x="1203198" y="29972"/>
                  </a:cubicBezTo>
                  <a:lnTo>
                    <a:pt x="1203198" y="378460"/>
                  </a:lnTo>
                  <a:cubicBezTo>
                    <a:pt x="1203198" y="394970"/>
                    <a:pt x="1189863" y="408432"/>
                    <a:pt x="1173226" y="408432"/>
                  </a:cubicBezTo>
                  <a:lnTo>
                    <a:pt x="29972" y="408432"/>
                  </a:lnTo>
                  <a:cubicBezTo>
                    <a:pt x="13335" y="408432"/>
                    <a:pt x="0" y="394970"/>
                    <a:pt x="0" y="378460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>
            <a:extLst>
              <a:ext uri="{FF2B5EF4-FFF2-40B4-BE49-F238E27FC236}">
                <a16:creationId xmlns:a16="http://schemas.microsoft.com/office/drawing/2014/main" id="{661104EC-78A9-9108-E09E-5E9B07820AFF}"/>
              </a:ext>
            </a:extLst>
          </p:cNvPr>
          <p:cNvSpPr txBox="1"/>
          <p:nvPr/>
        </p:nvSpPr>
        <p:spPr>
          <a:xfrm>
            <a:off x="2280240" y="1065697"/>
            <a:ext cx="2706810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IMAGES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51677F-CCFC-DD9E-A82F-0FCED901E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3" y="2095500"/>
            <a:ext cx="8991600" cy="427598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C6E18E5-A835-DA4D-4C28-C5D33D6F2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59" y="6525612"/>
            <a:ext cx="9982200" cy="360725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D09B70A-5656-7468-4BF4-59E1310E9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366" y="2133600"/>
            <a:ext cx="8922292" cy="41529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186232-D7F8-F4D3-3476-C1110C58FB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405" y="6537738"/>
            <a:ext cx="7942293" cy="360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8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81102" y="376633"/>
            <a:ext cx="1464916" cy="385762"/>
            <a:chOff x="0" y="0"/>
            <a:chExt cx="1953222" cy="5143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3260" cy="514350"/>
            </a:xfrm>
            <a:custGeom>
              <a:avLst/>
              <a:gdLst/>
              <a:ahLst/>
              <a:cxnLst/>
              <a:rect l="l" t="t" r="r" b="b"/>
              <a:pathLst>
                <a:path w="1953260" h="514350">
                  <a:moveTo>
                    <a:pt x="0" y="35941"/>
                  </a:moveTo>
                  <a:cubicBezTo>
                    <a:pt x="0" y="16129"/>
                    <a:pt x="16129" y="0"/>
                    <a:pt x="35941" y="0"/>
                  </a:cubicBezTo>
                  <a:lnTo>
                    <a:pt x="1917319" y="0"/>
                  </a:lnTo>
                  <a:cubicBezTo>
                    <a:pt x="1937131" y="0"/>
                    <a:pt x="1953260" y="16129"/>
                    <a:pt x="1953260" y="35941"/>
                  </a:cubicBezTo>
                  <a:lnTo>
                    <a:pt x="1953260" y="478409"/>
                  </a:lnTo>
                  <a:cubicBezTo>
                    <a:pt x="1953260" y="498221"/>
                    <a:pt x="1937131" y="514350"/>
                    <a:pt x="1917319" y="514350"/>
                  </a:cubicBezTo>
                  <a:lnTo>
                    <a:pt x="35941" y="514350"/>
                  </a:lnTo>
                  <a:cubicBezTo>
                    <a:pt x="16129" y="514350"/>
                    <a:pt x="0" y="498221"/>
                    <a:pt x="0" y="478409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81200" y="456757"/>
            <a:ext cx="1464944" cy="226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0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56927" y="1047302"/>
            <a:ext cx="8087316" cy="62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Findings &amp; Future Directions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56927" y="2146992"/>
            <a:ext cx="2640216" cy="31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Key Findings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852165" y="2680545"/>
            <a:ext cx="7022754" cy="4459338"/>
            <a:chOff x="0" y="0"/>
            <a:chExt cx="9363672" cy="59457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63710" cy="5945886"/>
            </a:xfrm>
            <a:custGeom>
              <a:avLst/>
              <a:gdLst/>
              <a:ahLst/>
              <a:cxnLst/>
              <a:rect l="l" t="t" r="r" b="b"/>
              <a:pathLst>
                <a:path w="9363710" h="5945886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312402" y="0"/>
                  </a:lnTo>
                  <a:lnTo>
                    <a:pt x="9312402" y="6350"/>
                  </a:lnTo>
                  <a:lnTo>
                    <a:pt x="9312402" y="0"/>
                  </a:lnTo>
                  <a:cubicBezTo>
                    <a:pt x="9340723" y="0"/>
                    <a:pt x="9363710" y="22987"/>
                    <a:pt x="9363710" y="51308"/>
                  </a:cubicBezTo>
                  <a:lnTo>
                    <a:pt x="9357360" y="51308"/>
                  </a:lnTo>
                  <a:lnTo>
                    <a:pt x="9363710" y="51308"/>
                  </a:lnTo>
                  <a:lnTo>
                    <a:pt x="9363710" y="5894578"/>
                  </a:lnTo>
                  <a:lnTo>
                    <a:pt x="9357360" y="5894578"/>
                  </a:lnTo>
                  <a:lnTo>
                    <a:pt x="9363710" y="5894578"/>
                  </a:lnTo>
                  <a:cubicBezTo>
                    <a:pt x="9363710" y="5922899"/>
                    <a:pt x="9340723" y="5945886"/>
                    <a:pt x="9312402" y="5945886"/>
                  </a:cubicBezTo>
                  <a:lnTo>
                    <a:pt x="9312402" y="5939536"/>
                  </a:lnTo>
                  <a:lnTo>
                    <a:pt x="9312402" y="5945886"/>
                  </a:lnTo>
                  <a:lnTo>
                    <a:pt x="51308" y="5945886"/>
                  </a:lnTo>
                  <a:lnTo>
                    <a:pt x="51308" y="5939536"/>
                  </a:lnTo>
                  <a:lnTo>
                    <a:pt x="51308" y="5945886"/>
                  </a:lnTo>
                  <a:cubicBezTo>
                    <a:pt x="22987" y="5945886"/>
                    <a:pt x="0" y="5922899"/>
                    <a:pt x="0" y="5894578"/>
                  </a:cubicBezTo>
                  <a:lnTo>
                    <a:pt x="0" y="51308"/>
                  </a:lnTo>
                  <a:lnTo>
                    <a:pt x="6350" y="51308"/>
                  </a:lnTo>
                  <a:lnTo>
                    <a:pt x="0" y="51308"/>
                  </a:lnTo>
                  <a:moveTo>
                    <a:pt x="12700" y="51308"/>
                  </a:moveTo>
                  <a:lnTo>
                    <a:pt x="12700" y="5894578"/>
                  </a:lnTo>
                  <a:lnTo>
                    <a:pt x="6350" y="5894578"/>
                  </a:lnTo>
                  <a:lnTo>
                    <a:pt x="12700" y="5894578"/>
                  </a:lnTo>
                  <a:cubicBezTo>
                    <a:pt x="12700" y="5915914"/>
                    <a:pt x="29972" y="5933186"/>
                    <a:pt x="51308" y="5933186"/>
                  </a:cubicBezTo>
                  <a:lnTo>
                    <a:pt x="9312402" y="5933186"/>
                  </a:lnTo>
                  <a:cubicBezTo>
                    <a:pt x="9333738" y="5933186"/>
                    <a:pt x="9351010" y="5915914"/>
                    <a:pt x="9351010" y="5894578"/>
                  </a:cubicBezTo>
                  <a:lnTo>
                    <a:pt x="9351010" y="51308"/>
                  </a:lnTo>
                  <a:cubicBezTo>
                    <a:pt x="9351010" y="29972"/>
                    <a:pt x="9333738" y="12700"/>
                    <a:pt x="9312402" y="12700"/>
                  </a:cubicBezTo>
                  <a:lnTo>
                    <a:pt x="51308" y="12700"/>
                  </a:lnTo>
                  <a:lnTo>
                    <a:pt x="51308" y="6350"/>
                  </a:lnTo>
                  <a:lnTo>
                    <a:pt x="51308" y="12700"/>
                  </a:lnTo>
                  <a:cubicBezTo>
                    <a:pt x="29972" y="12700"/>
                    <a:pt x="12700" y="29972"/>
                    <a:pt x="12700" y="51308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90738" y="2748115"/>
            <a:ext cx="2344341" cy="28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b="1" dirty="0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Algorithm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93173" y="2748115"/>
            <a:ext cx="940746" cy="28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Avg R²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92005" y="2748115"/>
            <a:ext cx="940746" cy="58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Avg RMSE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90847" y="2748115"/>
            <a:ext cx="945509" cy="28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Rank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90738" y="3606851"/>
            <a:ext cx="2344341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XGBoost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93173" y="3606851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0.97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92005" y="3606851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23.11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90847" y="3606851"/>
            <a:ext cx="945509" cy="29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🥇</a:t>
            </a: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Best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90738" y="4151414"/>
            <a:ext cx="2344341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LSTM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93173" y="4151414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0.85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92005" y="4151414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22.55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90847" y="4151414"/>
            <a:ext cx="945509" cy="29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🥈</a:t>
            </a: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Strong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90738" y="5010150"/>
            <a:ext cx="2344341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SVR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93173" y="5010150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~0.78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92005" y="5010150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~28.4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90847" y="5010150"/>
            <a:ext cx="945509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3rd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90738" y="5554713"/>
            <a:ext cx="2344341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Decision Tree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93173" y="5554713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~0.71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92005" y="5554713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~32.1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90847" y="5554713"/>
            <a:ext cx="945509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4th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90738" y="6099277"/>
            <a:ext cx="2344341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KNN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93173" y="6099277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~0.68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2005" y="6099277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~34.7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690847" y="6099277"/>
            <a:ext cx="945509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5th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90738" y="6643840"/>
            <a:ext cx="2344341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Linear Regression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93173" y="6643840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~0.61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92005" y="6643840"/>
            <a:ext cx="940746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~38.2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690847" y="6643840"/>
            <a:ext cx="945509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dirty="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6th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27073" y="2146992"/>
            <a:ext cx="3240729" cy="31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Future Enhancements</a:t>
            </a:r>
            <a:endParaRPr lang="en-US" sz="2062" b="1" dirty="0">
              <a:solidFill>
                <a:srgbClr val="FFFFFF"/>
              </a:solidFill>
              <a:latin typeface="Arial" panose="020B0604020202020204" pitchFamily="34" charset="0"/>
              <a:ea typeface="Arimo Bold"/>
              <a:cs typeface="Arial" panose="020B0604020202020204" pitchFamily="34" charset="0"/>
              <a:sym typeface="Arimo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763573" y="2628157"/>
            <a:ext cx="6676730" cy="58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"Machine Learning can significantly improve stock market forecasting and reduce investment risk."</a:t>
            </a:r>
            <a:endParaRPr lang="en-US" sz="1750" b="1" dirty="0">
              <a:solidFill>
                <a:srgbClr val="D9E1FF"/>
              </a:solidFill>
              <a:latin typeface="Arial" panose="020B0604020202020204" pitchFamily="34" charset="0"/>
              <a:ea typeface="Arimo Bold"/>
              <a:cs typeface="Arial" panose="020B0604020202020204" pitchFamily="34" charset="0"/>
              <a:sym typeface="Arimo Bold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9427073" y="2685307"/>
            <a:ext cx="28575" cy="628355"/>
            <a:chOff x="0" y="0"/>
            <a:chExt cx="38100" cy="8378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8100" cy="837819"/>
            </a:xfrm>
            <a:custGeom>
              <a:avLst/>
              <a:gdLst/>
              <a:ahLst/>
              <a:cxnLst/>
              <a:rect l="l" t="t" r="r" b="b"/>
              <a:pathLst>
                <a:path w="38100" h="837819">
                  <a:moveTo>
                    <a:pt x="0" y="0"/>
                  </a:moveTo>
                  <a:lnTo>
                    <a:pt x="38100" y="0"/>
                  </a:lnTo>
                  <a:lnTo>
                    <a:pt x="38100" y="837819"/>
                  </a:lnTo>
                  <a:lnTo>
                    <a:pt x="0" y="837819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780082" y="3502217"/>
            <a:ext cx="3070469" cy="31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Real-Time Prediction</a:t>
            </a:r>
            <a:endParaRPr lang="en-US" sz="2062" b="1" dirty="0">
              <a:solidFill>
                <a:srgbClr val="D9E1FF"/>
              </a:solidFill>
              <a:latin typeface="Arial" panose="020B0604020202020204" pitchFamily="34" charset="0"/>
              <a:ea typeface="Arimo Bold"/>
              <a:cs typeface="Arial" panose="020B0604020202020204" pitchFamily="34" charset="0"/>
              <a:sym typeface="Arimo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780082" y="3863979"/>
            <a:ext cx="6452740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Live data pipeline for intraday forecasting</a:t>
            </a:r>
            <a:endParaRPr lang="en-US" sz="1750" dirty="0">
              <a:solidFill>
                <a:srgbClr val="D9E1FF"/>
              </a:solidFill>
              <a:latin typeface="Arial" panose="020B0604020202020204" pitchFamily="34" charset="0"/>
              <a:ea typeface="Arimo"/>
              <a:cs typeface="Arial" panose="020B0604020202020204" pitchFamily="34" charset="0"/>
              <a:sym typeface="Arimo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744522" y="5215365"/>
            <a:ext cx="2752725" cy="31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Sentiment Analysis</a:t>
            </a:r>
            <a:endParaRPr lang="en-US" sz="2062" b="1" dirty="0">
              <a:solidFill>
                <a:srgbClr val="D9E1FF"/>
              </a:solidFill>
              <a:latin typeface="Arial" panose="020B0604020202020204" pitchFamily="34" charset="0"/>
              <a:ea typeface="Arimo Bold"/>
              <a:cs typeface="Arial" panose="020B0604020202020204" pitchFamily="34" charset="0"/>
              <a:sym typeface="Arimo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744522" y="5528183"/>
            <a:ext cx="6452740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Integrate news and social media signals via NLP</a:t>
            </a:r>
            <a:endParaRPr lang="en-US" sz="1750" dirty="0">
              <a:solidFill>
                <a:srgbClr val="D9E1FF"/>
              </a:solidFill>
              <a:latin typeface="Arial" panose="020B0604020202020204" pitchFamily="34" charset="0"/>
              <a:ea typeface="Arimo"/>
              <a:cs typeface="Arial" panose="020B0604020202020204" pitchFamily="34" charset="0"/>
              <a:sym typeface="Arimo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780082" y="4400941"/>
            <a:ext cx="2929833" cy="31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Transformer Models</a:t>
            </a:r>
            <a:endParaRPr lang="en-US" sz="2062" b="1" dirty="0">
              <a:solidFill>
                <a:srgbClr val="D9E1FF"/>
              </a:solidFill>
              <a:latin typeface="Arial" panose="020B0604020202020204" pitchFamily="34" charset="0"/>
              <a:ea typeface="Arimo Bold"/>
              <a:cs typeface="Arial" panose="020B0604020202020204" pitchFamily="34" charset="0"/>
              <a:sym typeface="Arimo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780082" y="4701095"/>
            <a:ext cx="7022782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75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Explore attention-based architectures for superior sequence modeling</a:t>
            </a:r>
            <a:endParaRPr lang="en-US" sz="1750" dirty="0">
              <a:solidFill>
                <a:srgbClr val="D9E1FF"/>
              </a:solidFill>
              <a:latin typeface="Arial" panose="020B0604020202020204" pitchFamily="34" charset="0"/>
              <a:ea typeface="Arimo"/>
              <a:cs typeface="Arial" panose="020B0604020202020204" pitchFamily="34" charset="0"/>
              <a:sym typeface="Arimo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763573" y="6133482"/>
            <a:ext cx="2640216" cy="31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D9E1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Web Deployment</a:t>
            </a:r>
            <a:endParaRPr lang="en-US" sz="2062" b="1" dirty="0">
              <a:solidFill>
                <a:srgbClr val="D9E1FF"/>
              </a:solidFill>
              <a:latin typeface="Arial" panose="020B0604020202020204" pitchFamily="34" charset="0"/>
              <a:ea typeface="Arimo Bold"/>
              <a:cs typeface="Arial" panose="020B0604020202020204" pitchFamily="34" charset="0"/>
              <a:sym typeface="Arimo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763573" y="6526236"/>
            <a:ext cx="6452740" cy="2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>
                <a:solidFill>
                  <a:srgbClr val="D9E1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Build an investor-facing prediction dashboard</a:t>
            </a:r>
            <a:endParaRPr lang="en-US" sz="1750" dirty="0">
              <a:solidFill>
                <a:srgbClr val="D9E1FF"/>
              </a:solidFill>
              <a:latin typeface="Arial" panose="020B0604020202020204" pitchFamily="34" charset="0"/>
              <a:ea typeface="Arimo"/>
              <a:cs typeface="Arial" panose="020B0604020202020204" pitchFamily="34" charset="0"/>
              <a:sym typeface="Arimo"/>
            </a:endParaRPr>
          </a:p>
        </p:txBody>
      </p:sp>
      <p:grpSp>
        <p:nvGrpSpPr>
          <p:cNvPr id="57" name="Group 45">
            <a:extLst>
              <a:ext uri="{FF2B5EF4-FFF2-40B4-BE49-F238E27FC236}">
                <a16:creationId xmlns:a16="http://schemas.microsoft.com/office/drawing/2014/main" id="{8949C4BD-643A-2D6D-47AA-EA6D918F99BE}"/>
              </a:ext>
            </a:extLst>
          </p:cNvPr>
          <p:cNvGrpSpPr/>
          <p:nvPr/>
        </p:nvGrpSpPr>
        <p:grpSpPr>
          <a:xfrm>
            <a:off x="9427073" y="3541709"/>
            <a:ext cx="28575" cy="628355"/>
            <a:chOff x="0" y="0"/>
            <a:chExt cx="38100" cy="837806"/>
          </a:xfrm>
        </p:grpSpPr>
        <p:sp>
          <p:nvSpPr>
            <p:cNvPr id="58" name="Freeform 46">
              <a:extLst>
                <a:ext uri="{FF2B5EF4-FFF2-40B4-BE49-F238E27FC236}">
                  <a16:creationId xmlns:a16="http://schemas.microsoft.com/office/drawing/2014/main" id="{72DEE073-9702-12D0-DE22-B9685BDC7191}"/>
                </a:ext>
              </a:extLst>
            </p:cNvPr>
            <p:cNvSpPr/>
            <p:nvPr/>
          </p:nvSpPr>
          <p:spPr>
            <a:xfrm>
              <a:off x="0" y="0"/>
              <a:ext cx="38100" cy="837819"/>
            </a:xfrm>
            <a:custGeom>
              <a:avLst/>
              <a:gdLst/>
              <a:ahLst/>
              <a:cxnLst/>
              <a:rect l="l" t="t" r="r" b="b"/>
              <a:pathLst>
                <a:path w="38100" h="837819">
                  <a:moveTo>
                    <a:pt x="0" y="0"/>
                  </a:moveTo>
                  <a:lnTo>
                    <a:pt x="38100" y="0"/>
                  </a:lnTo>
                  <a:lnTo>
                    <a:pt x="38100" y="837819"/>
                  </a:lnTo>
                  <a:lnTo>
                    <a:pt x="0" y="837819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45">
            <a:extLst>
              <a:ext uri="{FF2B5EF4-FFF2-40B4-BE49-F238E27FC236}">
                <a16:creationId xmlns:a16="http://schemas.microsoft.com/office/drawing/2014/main" id="{978C00BC-2C5B-786F-031B-371F0A5A9B7E}"/>
              </a:ext>
            </a:extLst>
          </p:cNvPr>
          <p:cNvGrpSpPr/>
          <p:nvPr/>
        </p:nvGrpSpPr>
        <p:grpSpPr>
          <a:xfrm>
            <a:off x="9427073" y="4393664"/>
            <a:ext cx="28575" cy="628355"/>
            <a:chOff x="0" y="0"/>
            <a:chExt cx="38100" cy="837806"/>
          </a:xfrm>
        </p:grpSpPr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295D46B3-7ACA-81B1-B483-23E5A335B3A2}"/>
                </a:ext>
              </a:extLst>
            </p:cNvPr>
            <p:cNvSpPr/>
            <p:nvPr/>
          </p:nvSpPr>
          <p:spPr>
            <a:xfrm>
              <a:off x="0" y="0"/>
              <a:ext cx="38100" cy="837819"/>
            </a:xfrm>
            <a:custGeom>
              <a:avLst/>
              <a:gdLst/>
              <a:ahLst/>
              <a:cxnLst/>
              <a:rect l="l" t="t" r="r" b="b"/>
              <a:pathLst>
                <a:path w="38100" h="837819">
                  <a:moveTo>
                    <a:pt x="0" y="0"/>
                  </a:moveTo>
                  <a:lnTo>
                    <a:pt x="38100" y="0"/>
                  </a:lnTo>
                  <a:lnTo>
                    <a:pt x="38100" y="837819"/>
                  </a:lnTo>
                  <a:lnTo>
                    <a:pt x="0" y="837819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45">
            <a:extLst>
              <a:ext uri="{FF2B5EF4-FFF2-40B4-BE49-F238E27FC236}">
                <a16:creationId xmlns:a16="http://schemas.microsoft.com/office/drawing/2014/main" id="{94B1FE64-4510-F9C5-2583-0FE347229EEA}"/>
              </a:ext>
            </a:extLst>
          </p:cNvPr>
          <p:cNvGrpSpPr/>
          <p:nvPr/>
        </p:nvGrpSpPr>
        <p:grpSpPr>
          <a:xfrm>
            <a:off x="9427073" y="5240530"/>
            <a:ext cx="28575" cy="628365"/>
            <a:chOff x="-1628" y="119259"/>
            <a:chExt cx="38100" cy="837819"/>
          </a:xfrm>
        </p:grpSpPr>
        <p:sp>
          <p:nvSpPr>
            <p:cNvPr id="62" name="Freeform 46">
              <a:extLst>
                <a:ext uri="{FF2B5EF4-FFF2-40B4-BE49-F238E27FC236}">
                  <a16:creationId xmlns:a16="http://schemas.microsoft.com/office/drawing/2014/main" id="{88A7F85A-4C2F-8DF3-9A6E-C14A9595D327}"/>
                </a:ext>
              </a:extLst>
            </p:cNvPr>
            <p:cNvSpPr/>
            <p:nvPr/>
          </p:nvSpPr>
          <p:spPr>
            <a:xfrm>
              <a:off x="-1628" y="119259"/>
              <a:ext cx="38100" cy="837819"/>
            </a:xfrm>
            <a:custGeom>
              <a:avLst/>
              <a:gdLst/>
              <a:ahLst/>
              <a:cxnLst/>
              <a:rect l="l" t="t" r="r" b="b"/>
              <a:pathLst>
                <a:path w="38100" h="837819">
                  <a:moveTo>
                    <a:pt x="0" y="0"/>
                  </a:moveTo>
                  <a:lnTo>
                    <a:pt x="38100" y="0"/>
                  </a:lnTo>
                  <a:lnTo>
                    <a:pt x="38100" y="837819"/>
                  </a:lnTo>
                  <a:lnTo>
                    <a:pt x="0" y="837819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3" name="Group 45">
            <a:extLst>
              <a:ext uri="{FF2B5EF4-FFF2-40B4-BE49-F238E27FC236}">
                <a16:creationId xmlns:a16="http://schemas.microsoft.com/office/drawing/2014/main" id="{8EC50EE6-EE77-8E9C-7B68-B283AF4D90AA}"/>
              </a:ext>
            </a:extLst>
          </p:cNvPr>
          <p:cNvGrpSpPr/>
          <p:nvPr/>
        </p:nvGrpSpPr>
        <p:grpSpPr>
          <a:xfrm>
            <a:off x="9427072" y="6116927"/>
            <a:ext cx="28575" cy="628355"/>
            <a:chOff x="0" y="0"/>
            <a:chExt cx="38100" cy="837806"/>
          </a:xfrm>
        </p:grpSpPr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062291A5-D799-314B-8613-DD9828B1E6B1}"/>
                </a:ext>
              </a:extLst>
            </p:cNvPr>
            <p:cNvSpPr/>
            <p:nvPr/>
          </p:nvSpPr>
          <p:spPr>
            <a:xfrm>
              <a:off x="0" y="0"/>
              <a:ext cx="38100" cy="837819"/>
            </a:xfrm>
            <a:custGeom>
              <a:avLst/>
              <a:gdLst/>
              <a:ahLst/>
              <a:cxnLst/>
              <a:rect l="l" t="t" r="r" b="b"/>
              <a:pathLst>
                <a:path w="38100" h="837819">
                  <a:moveTo>
                    <a:pt x="0" y="0"/>
                  </a:moveTo>
                  <a:lnTo>
                    <a:pt x="38100" y="0"/>
                  </a:lnTo>
                  <a:lnTo>
                    <a:pt x="38100" y="837819"/>
                  </a:lnTo>
                  <a:lnTo>
                    <a:pt x="0" y="837819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7D6A-4B1C-B242-4781-DE97A6582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8733C7B-A8A3-B92B-9288-924BE9ED56B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F09D7D-9ED1-543D-FFC1-39881D03E4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76B848F-30B4-B2C2-79A4-F27567264DD0}"/>
              </a:ext>
            </a:extLst>
          </p:cNvPr>
          <p:cNvSpPr txBox="1"/>
          <p:nvPr/>
        </p:nvSpPr>
        <p:spPr>
          <a:xfrm>
            <a:off x="5029200" y="4692703"/>
            <a:ext cx="8481085" cy="901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9600" b="1" dirty="0">
                <a:solidFill>
                  <a:srgbClr val="FFFFFF"/>
                </a:solidFill>
                <a:latin typeface="Arial" panose="020B0604020202020204" pitchFamily="34" charset="0"/>
                <a:ea typeface="Arimo Bold"/>
                <a:cs typeface="Arial" panose="020B0604020202020204" pitchFamily="34" charset="0"/>
                <a:sym typeface="Arimo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276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936</Words>
  <Application>Microsoft Office PowerPoint</Application>
  <PresentationFormat>Custom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newu.pptx</dc:title>
  <dc:creator>Prajwal S</dc:creator>
  <cp:lastModifiedBy>Prajwal S</cp:lastModifiedBy>
  <cp:revision>4</cp:revision>
  <dcterms:created xsi:type="dcterms:W3CDTF">2006-08-16T00:00:00Z</dcterms:created>
  <dcterms:modified xsi:type="dcterms:W3CDTF">2026-04-27T18:39:56Z</dcterms:modified>
  <dc:identifier>DAHH-msIDyQ</dc:identifier>
</cp:coreProperties>
</file>